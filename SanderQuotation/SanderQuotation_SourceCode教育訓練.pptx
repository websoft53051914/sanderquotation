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0C1B36"/>
          </a:solidFill>
        </p:spPr>
      </p:sp>
      <p:sp>
        <p:nvSpPr>
          <p:cNvPr id="3" name="Shape 1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4" name="Shape 2"/>
          <p:cNvSpPr/>
          <p:nvPr/>
        </p:nvSpPr>
        <p:spPr>
          <a:xfrm>
            <a:off x="8778240" y="-2194560"/>
            <a:ext cx="5943600" cy="9052560"/>
          </a:xfrm>
          <a:prstGeom prst="rect">
            <a:avLst/>
          </a:prstGeom>
          <a:solidFill>
            <a:srgbClr val="132A52">
              <a:alpha val="82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SANDERQUOTATION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685800"/>
            <a:ext cx="96926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Source Code 教育訓練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BOM 查價系統：架構分層、核心資料流程與 AI 智能查價助理模組　|　技術棧：ASP.NET Core 8 · PostgreSQL + pgvector · Semantic Kernel + Gemini · Hangfire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574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教育訓練大綱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11094415" cy="768096"/>
          </a:xfrm>
          <a:prstGeom prst="roundRect">
            <a:avLst>
              <a:gd name="adj" fmla="val 7143"/>
            </a:avLst>
          </a:prstGeom>
          <a:solidFill>
            <a:srgbClr val="0C1B36"/>
          </a:solidFill>
        </p:spPr>
      </p:sp>
      <p:sp>
        <p:nvSpPr>
          <p:cNvPr id="11" name="Text 9"/>
          <p:cNvSpPr/>
          <p:nvPr/>
        </p:nvSpPr>
        <p:spPr>
          <a:xfrm>
            <a:off x="777240" y="2514600"/>
            <a:ext cx="822960" cy="7680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2596896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系統簡介與分層架構設計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2514600"/>
            <a:ext cx="5516575" cy="7680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D6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系統定位、技術棧、Solution 專案結構，以及 Controller → Business Logic → DAO → Database 的分層原則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1094415" cy="768096"/>
          </a:xfrm>
          <a:prstGeom prst="roundRect">
            <a:avLst>
              <a:gd name="adj" fmla="val 7143"/>
            </a:avLst>
          </a:prstGeom>
          <a:solidFill>
            <a:srgbClr val="0C1B36"/>
          </a:solidFill>
        </p:spPr>
      </p:sp>
      <p:sp>
        <p:nvSpPr>
          <p:cNvPr id="15" name="Text 13"/>
          <p:cNvSpPr/>
          <p:nvPr/>
        </p:nvSpPr>
        <p:spPr>
          <a:xfrm>
            <a:off x="777240" y="3429000"/>
            <a:ext cx="822960" cy="7680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0200" y="3511296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核心資料流程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3429000"/>
            <a:ext cx="5516575" cy="7680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D6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BOM 上傳、查料、內部 / 外部查價、背景排程工作的完整流程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11094415" cy="768096"/>
          </a:xfrm>
          <a:prstGeom prst="roundRect">
            <a:avLst>
              <a:gd name="adj" fmla="val 7143"/>
            </a:avLst>
          </a:prstGeom>
          <a:solidFill>
            <a:srgbClr val="0C1B36"/>
          </a:solidFill>
        </p:spPr>
      </p:sp>
      <p:sp>
        <p:nvSpPr>
          <p:cNvPr id="19" name="Text 17"/>
          <p:cNvSpPr/>
          <p:nvPr/>
        </p:nvSpPr>
        <p:spPr>
          <a:xfrm>
            <a:off x="777240" y="4343400"/>
            <a:ext cx="822960" cy="7680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00200" y="4425696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AI 智能查價助理模組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0" y="4343400"/>
            <a:ext cx="5516575" cy="7680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D6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Semantic Kernel + Gemini Function Calling、Text-to-SQL 與提示詞調校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64465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93B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客戶端工程師教育訓練　|　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0C1B36"/>
          </a:solidFill>
        </p:spPr>
      </p:sp>
      <p:sp>
        <p:nvSpPr>
          <p:cNvPr id="3" name="Shape 1"/>
          <p:cNvSpPr/>
          <p:nvPr/>
        </p:nvSpPr>
        <p:spPr>
          <a:xfrm>
            <a:off x="-548640" y="4572000"/>
            <a:ext cx="3108960" cy="3108960"/>
          </a:xfrm>
          <a:prstGeom prst="ellipse">
            <a:avLst/>
          </a:prstGeom>
          <a:solidFill>
            <a:srgbClr val="02C39A">
              <a:alpha val="4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237744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PART 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0584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系統簡介與分層架構設計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系統定位、技術棧、Solution 專案結構 ｜ Controller → Business Logic → DAO → Database 分層原則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SanderQuotation Source Code 教育訓練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系統簡介：SanderQuotation 是什麼？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57784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SanderQuotation 是一套「BOM（物料清單）自動查價」系統。客戶上傳 BOM 檔案後，系統自動比對內部料號、查詢內部歷史採購價格與外部即時報價（Mouser、DigiKey 等），並透過 AI 輔助關鍵字擷取與價格決策，最終產出完整查價結果，大幅縮短業務報價作業時間。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5577840" cy="685800"/>
          </a:xfrm>
          <a:prstGeom prst="roundRect">
            <a:avLst>
              <a:gd name="adj" fmla="val 9333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3163824"/>
            <a:ext cx="91440" cy="914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</p:spPr>
      </p:sp>
      <p:sp>
        <p:nvSpPr>
          <p:cNvPr id="7" name="Text 5"/>
          <p:cNvSpPr/>
          <p:nvPr/>
        </p:nvSpPr>
        <p:spPr>
          <a:xfrm>
            <a:off x="859536" y="3090672"/>
            <a:ext cx="5120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內部查價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3346704"/>
            <a:ext cx="5248656" cy="283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比對歷史採購紀錄，AI 自動分群判斷合理排單價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5577840" cy="685800"/>
          </a:xfrm>
          <a:prstGeom prst="roundRect">
            <a:avLst>
              <a:gd name="adj" fmla="val 9333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3941064"/>
            <a:ext cx="91440" cy="91440"/>
          </a:xfrm>
          <a:prstGeom prst="roundRect">
            <a:avLst>
              <a:gd name="adj" fmla="val 20000"/>
            </a:avLst>
          </a:prstGeom>
          <a:solidFill>
            <a:srgbClr val="02C39A"/>
          </a:solidFill>
        </p:spPr>
      </p:sp>
      <p:sp>
        <p:nvSpPr>
          <p:cNvPr id="11" name="Text 9"/>
          <p:cNvSpPr/>
          <p:nvPr/>
        </p:nvSpPr>
        <p:spPr>
          <a:xfrm>
            <a:off x="859536" y="3867912"/>
            <a:ext cx="5120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外部查價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" y="4123944"/>
            <a:ext cx="5248656" cy="283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串接 Mouser / DigiKey 等現貨平台即時取得報價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5577840" cy="685800"/>
          </a:xfrm>
          <a:prstGeom prst="roundRect">
            <a:avLst>
              <a:gd name="adj" fmla="val 9333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" y="4718304"/>
            <a:ext cx="91440" cy="914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</p:spPr>
      </p:sp>
      <p:sp>
        <p:nvSpPr>
          <p:cNvPr id="15" name="Text 13"/>
          <p:cNvSpPr/>
          <p:nvPr/>
        </p:nvSpPr>
        <p:spPr>
          <a:xfrm>
            <a:off x="859536" y="4645152"/>
            <a:ext cx="5120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AI 智能助理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" y="4901184"/>
            <a:ext cx="5248656" cy="283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自然語言查詢查價、料品與採購紀錄資料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5577840" cy="685800"/>
          </a:xfrm>
          <a:prstGeom prst="roundRect">
            <a:avLst>
              <a:gd name="adj" fmla="val 9333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" y="5495544"/>
            <a:ext cx="91440" cy="91440"/>
          </a:xfrm>
          <a:prstGeom prst="roundRect">
            <a:avLst>
              <a:gd name="adj" fmla="val 20000"/>
            </a:avLst>
          </a:prstGeom>
          <a:solidFill>
            <a:srgbClr val="02C39A"/>
          </a:solidFill>
        </p:spPr>
      </p:sp>
      <p:sp>
        <p:nvSpPr>
          <p:cNvPr id="19" name="Text 17"/>
          <p:cNvSpPr/>
          <p:nvPr/>
        </p:nvSpPr>
        <p:spPr>
          <a:xfrm>
            <a:off x="859536" y="5422392"/>
            <a:ext cx="5120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排程自動化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" y="5678424"/>
            <a:ext cx="5248656" cy="283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Hangfire 背景工作處理轉檔、關鍵字擷取、資料清理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0" y="1371600"/>
            <a:ext cx="5029200" cy="4709160"/>
          </a:xfrm>
          <a:prstGeom prst="roundRect">
            <a:avLst>
              <a:gd name="adj" fmla="val 1942"/>
            </a:avLst>
          </a:prstGeom>
          <a:solidFill>
            <a:srgbClr val="132A52"/>
          </a:solidFill>
        </p:spPr>
      </p:sp>
      <p:sp>
        <p:nvSpPr>
          <p:cNvPr id="22" name="Text 20"/>
          <p:cNvSpPr/>
          <p:nvPr/>
        </p:nvSpPr>
        <p:spPr>
          <a:xfrm>
            <a:off x="6858000" y="1536192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端對端查價流程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0" y="2011680"/>
            <a:ext cx="4480560" cy="530352"/>
          </a:xfrm>
          <a:prstGeom prst="roundRect">
            <a:avLst>
              <a:gd name="adj" fmla="val 10345"/>
            </a:avLst>
          </a:prstGeom>
          <a:solidFill>
            <a:srgbClr val="0C1B36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67728" y="2011680"/>
            <a:ext cx="3200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0" y="2011680"/>
            <a:ext cx="40233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BOM 檔案上傳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43416" y="2542032"/>
            <a:ext cx="109728" cy="128016"/>
          </a:xfrm>
          <a:prstGeom prst="downArrow">
            <a:avLst/>
          </a:prstGeom>
          <a:solidFill>
            <a:srgbClr val="1C7293"/>
          </a:solidFill>
        </p:spPr>
      </p:sp>
      <p:sp>
        <p:nvSpPr>
          <p:cNvPr id="27" name="Shape 25"/>
          <p:cNvSpPr/>
          <p:nvPr/>
        </p:nvSpPr>
        <p:spPr>
          <a:xfrm>
            <a:off x="6858000" y="2670048"/>
            <a:ext cx="4480560" cy="530352"/>
          </a:xfrm>
          <a:prstGeom prst="roundRect">
            <a:avLst>
              <a:gd name="adj" fmla="val 10345"/>
            </a:avLst>
          </a:prstGeom>
          <a:solidFill>
            <a:srgbClr val="0C1B36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67728" y="2670048"/>
            <a:ext cx="3200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0" y="2670048"/>
            <a:ext cx="40233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解析轉檔 (bomfilecontent)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43416" y="3200400"/>
            <a:ext cx="109728" cy="128016"/>
          </a:xfrm>
          <a:prstGeom prst="downArrow">
            <a:avLst/>
          </a:prstGeom>
          <a:solidFill>
            <a:srgbClr val="1C7293"/>
          </a:solidFill>
        </p:spPr>
      </p:sp>
      <p:sp>
        <p:nvSpPr>
          <p:cNvPr id="31" name="Shape 29"/>
          <p:cNvSpPr/>
          <p:nvPr/>
        </p:nvSpPr>
        <p:spPr>
          <a:xfrm>
            <a:off x="6858000" y="3328416"/>
            <a:ext cx="4480560" cy="530352"/>
          </a:xfrm>
          <a:prstGeom prst="roundRect">
            <a:avLst>
              <a:gd name="adj" fmla="val 10345"/>
            </a:avLst>
          </a:prstGeom>
          <a:solidFill>
            <a:srgbClr val="0C1B36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67728" y="3328416"/>
            <a:ext cx="3200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0" y="3328416"/>
            <a:ext cx="40233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查料比對內部料號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043416" y="3858768"/>
            <a:ext cx="109728" cy="128016"/>
          </a:xfrm>
          <a:prstGeom prst="downArrow">
            <a:avLst/>
          </a:prstGeom>
          <a:solidFill>
            <a:srgbClr val="1C7293"/>
          </a:solidFill>
        </p:spPr>
      </p:sp>
      <p:sp>
        <p:nvSpPr>
          <p:cNvPr id="35" name="Shape 33"/>
          <p:cNvSpPr/>
          <p:nvPr/>
        </p:nvSpPr>
        <p:spPr>
          <a:xfrm>
            <a:off x="6858000" y="3986784"/>
            <a:ext cx="4480560" cy="530352"/>
          </a:xfrm>
          <a:prstGeom prst="roundRect">
            <a:avLst>
              <a:gd name="adj" fmla="val 10345"/>
            </a:avLst>
          </a:prstGeom>
          <a:solidFill>
            <a:srgbClr val="0C1B36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67728" y="3986784"/>
            <a:ext cx="3200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0" y="3986784"/>
            <a:ext cx="40233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內部查價（歷史採購 + AI 分群）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043416" y="4517136"/>
            <a:ext cx="109728" cy="128016"/>
          </a:xfrm>
          <a:prstGeom prst="downArrow">
            <a:avLst/>
          </a:prstGeom>
          <a:solidFill>
            <a:srgbClr val="1C7293"/>
          </a:solidFill>
        </p:spPr>
      </p:sp>
      <p:sp>
        <p:nvSpPr>
          <p:cNvPr id="39" name="Shape 37"/>
          <p:cNvSpPr/>
          <p:nvPr/>
        </p:nvSpPr>
        <p:spPr>
          <a:xfrm>
            <a:off x="6858000" y="4645152"/>
            <a:ext cx="4480560" cy="530352"/>
          </a:xfrm>
          <a:prstGeom prst="roundRect">
            <a:avLst>
              <a:gd name="adj" fmla="val 10345"/>
            </a:avLst>
          </a:prstGeom>
          <a:solidFill>
            <a:srgbClr val="0C1B36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67728" y="4645152"/>
            <a:ext cx="3200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0" y="4645152"/>
            <a:ext cx="40233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外部查價（Mouser / DigiKey）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043416" y="5175504"/>
            <a:ext cx="109728" cy="128016"/>
          </a:xfrm>
          <a:prstGeom prst="downArrow">
            <a:avLst/>
          </a:prstGeom>
          <a:solidFill>
            <a:srgbClr val="1C7293"/>
          </a:solidFill>
        </p:spPr>
      </p:sp>
      <p:sp>
        <p:nvSpPr>
          <p:cNvPr id="43" name="Shape 41"/>
          <p:cNvSpPr/>
          <p:nvPr/>
        </p:nvSpPr>
        <p:spPr>
          <a:xfrm>
            <a:off x="6858000" y="5303520"/>
            <a:ext cx="4480560" cy="530352"/>
          </a:xfrm>
          <a:prstGeom prst="roundRect">
            <a:avLst>
              <a:gd name="adj" fmla="val 10345"/>
            </a:avLst>
          </a:prstGeom>
          <a:solidFill>
            <a:srgbClr val="0C1B36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67728" y="5303520"/>
            <a:ext cx="3200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6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315200" y="5303520"/>
            <a:ext cx="40233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查價結果彙整輸出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SanderQuotation Source Code 教育訓練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技術架構總覽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9BA9C2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2C39A"/>
          </a:solidFill>
        </p:spPr>
      </p:sp>
      <p:sp>
        <p:nvSpPr>
          <p:cNvPr id="6" name="Text 4"/>
          <p:cNvSpPr/>
          <p:nvPr/>
        </p:nvSpPr>
        <p:spPr>
          <a:xfrm>
            <a:off x="960120" y="1536192"/>
            <a:ext cx="3017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後端框架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920240"/>
            <a:ext cx="3209544" cy="7040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ASP.NET Core 8 (Web API)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6118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9BA9C2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60020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C7293"/>
          </a:solidFill>
        </p:spPr>
      </p:sp>
      <p:sp>
        <p:nvSpPr>
          <p:cNvPr id="10" name="Text 8"/>
          <p:cNvSpPr/>
          <p:nvPr/>
        </p:nvSpPr>
        <p:spPr>
          <a:xfrm>
            <a:off x="4754880" y="1536192"/>
            <a:ext cx="3017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前端框架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44568" y="1920240"/>
            <a:ext cx="3209544" cy="7040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ASP.NET Core MVC + Razor View（後台管理介面）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6118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9BA9C2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21040" y="160020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2C39A"/>
          </a:solidFill>
        </p:spPr>
      </p:sp>
      <p:sp>
        <p:nvSpPr>
          <p:cNvPr id="14" name="Text 12"/>
          <p:cNvSpPr/>
          <p:nvPr/>
        </p:nvSpPr>
        <p:spPr>
          <a:xfrm>
            <a:off x="8549640" y="1536192"/>
            <a:ext cx="3017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資料庫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39328" y="1920240"/>
            <a:ext cx="3209544" cy="7040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PostgreSQL + pgvector（支援 AI 向量語意搜尋）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898648"/>
            <a:ext cx="36118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9BA9C2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08152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C7293"/>
          </a:solidFill>
        </p:spPr>
      </p:sp>
      <p:sp>
        <p:nvSpPr>
          <p:cNvPr id="18" name="Text 16"/>
          <p:cNvSpPr/>
          <p:nvPr/>
        </p:nvSpPr>
        <p:spPr>
          <a:xfrm>
            <a:off x="960120" y="3017520"/>
            <a:ext cx="3017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AI 引擎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3401568"/>
            <a:ext cx="3209544" cy="7040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Microsoft Semantic Kernel + Google Gemini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2898648"/>
            <a:ext cx="36118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9BA9C2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26280" y="308152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2C39A"/>
          </a:solidFill>
        </p:spPr>
      </p:sp>
      <p:sp>
        <p:nvSpPr>
          <p:cNvPr id="22" name="Text 20"/>
          <p:cNvSpPr/>
          <p:nvPr/>
        </p:nvSpPr>
        <p:spPr>
          <a:xfrm>
            <a:off x="4754880" y="3017520"/>
            <a:ext cx="3017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背景排程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44568" y="3401568"/>
            <a:ext cx="3209544" cy="7040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Hangfire（InMemory Storage，定時 / 佇列工作）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2898648"/>
            <a:ext cx="36118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9BA9C2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21040" y="308152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C7293"/>
          </a:solidFill>
        </p:spPr>
      </p:sp>
      <p:sp>
        <p:nvSpPr>
          <p:cNvPr id="26" name="Text 24"/>
          <p:cNvSpPr/>
          <p:nvPr/>
        </p:nvSpPr>
        <p:spPr>
          <a:xfrm>
            <a:off x="8549640" y="3017520"/>
            <a:ext cx="3017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依賴注入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39328" y="3401568"/>
            <a:ext cx="3209544" cy="7040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Unity Container（DAO / BL 工廠模式）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379976"/>
            <a:ext cx="36118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9BA9C2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456285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2C39A"/>
          </a:solidFill>
        </p:spPr>
      </p:sp>
      <p:sp>
        <p:nvSpPr>
          <p:cNvPr id="30" name="Text 28"/>
          <p:cNvSpPr/>
          <p:nvPr/>
        </p:nvSpPr>
        <p:spPr>
          <a:xfrm>
            <a:off x="960120" y="4498848"/>
            <a:ext cx="3017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Excel 匯入匯出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9808" y="4882896"/>
            <a:ext cx="3209544" cy="7040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NPOI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43400" y="4379976"/>
            <a:ext cx="36118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9BA9C2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26280" y="456285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C7293"/>
          </a:solidFill>
        </p:spPr>
      </p:sp>
      <p:sp>
        <p:nvSpPr>
          <p:cNvPr id="34" name="Text 32"/>
          <p:cNvSpPr/>
          <p:nvPr/>
        </p:nvSpPr>
        <p:spPr>
          <a:xfrm>
            <a:off x="4754880" y="4498848"/>
            <a:ext cx="3017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身分驗證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44568" y="4882896"/>
            <a:ext cx="3209544" cy="7040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JWT Bearer + Cookie Session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38160" y="4379976"/>
            <a:ext cx="36118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9BA9C2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321040" y="456285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2C39A"/>
          </a:solidFill>
        </p:spPr>
      </p:sp>
      <p:sp>
        <p:nvSpPr>
          <p:cNvPr id="38" name="Text 36"/>
          <p:cNvSpPr/>
          <p:nvPr/>
        </p:nvSpPr>
        <p:spPr>
          <a:xfrm>
            <a:off x="8549640" y="4498848"/>
            <a:ext cx="3017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韌性重試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339328" y="4882896"/>
            <a:ext cx="3209544" cy="7040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Polly（AI 呼叫自動重試 / Timeout）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SanderQuotation Source Code 教育訓練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LAYERED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分層架構設計原則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63040" y="1417320"/>
            <a:ext cx="9265615" cy="868680"/>
          </a:xfrm>
          <a:prstGeom prst="roundRect">
            <a:avLst>
              <a:gd name="adj" fmla="val 8421"/>
            </a:avLst>
          </a:prstGeom>
          <a:solidFill>
            <a:srgbClr val="02C39A"/>
          </a:solidFill>
        </p:spPr>
      </p:sp>
      <p:sp>
        <p:nvSpPr>
          <p:cNvPr id="5" name="Text 3"/>
          <p:cNvSpPr/>
          <p:nvPr/>
        </p:nvSpPr>
        <p:spPr>
          <a:xfrm>
            <a:off x="1737360" y="1490472"/>
            <a:ext cx="2926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Controller 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737360" y="1819656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backend / frontend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0" y="1417320"/>
            <a:ext cx="5699455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接收 HTTP 請求、參數驗證、呼叫 BL、組裝回應（不含商業邏輯）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13552" y="2304288"/>
            <a:ext cx="164592" cy="146304"/>
          </a:xfrm>
          <a:prstGeom prst="downArrow">
            <a:avLst/>
          </a:prstGeom>
          <a:solidFill>
            <a:srgbClr val="70788F"/>
          </a:solidFill>
        </p:spPr>
      </p:sp>
      <p:sp>
        <p:nvSpPr>
          <p:cNvPr id="9" name="Shape 7"/>
          <p:cNvSpPr/>
          <p:nvPr/>
        </p:nvSpPr>
        <p:spPr>
          <a:xfrm>
            <a:off x="1463040" y="2542032"/>
            <a:ext cx="9265615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</p:spPr>
      </p:sp>
      <p:sp>
        <p:nvSpPr>
          <p:cNvPr id="10" name="Text 8"/>
          <p:cNvSpPr/>
          <p:nvPr/>
        </p:nvSpPr>
        <p:spPr>
          <a:xfrm>
            <a:off x="1737360" y="2615184"/>
            <a:ext cx="2926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Business Logic 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37360" y="2944368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Business.BusinessLogic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2542032"/>
            <a:ext cx="5699455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商業規則、跨表交易協調（UnitOfWork.Commit）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13552" y="3429000"/>
            <a:ext cx="164592" cy="146304"/>
          </a:xfrm>
          <a:prstGeom prst="downArrow">
            <a:avLst/>
          </a:prstGeom>
          <a:solidFill>
            <a:srgbClr val="70788F"/>
          </a:solidFill>
        </p:spPr>
      </p:sp>
      <p:sp>
        <p:nvSpPr>
          <p:cNvPr id="14" name="Shape 12"/>
          <p:cNvSpPr/>
          <p:nvPr/>
        </p:nvSpPr>
        <p:spPr>
          <a:xfrm>
            <a:off x="1463040" y="3666744"/>
            <a:ext cx="9265615" cy="868680"/>
          </a:xfrm>
          <a:prstGeom prst="roundRect">
            <a:avLst>
              <a:gd name="adj" fmla="val 8421"/>
            </a:avLst>
          </a:prstGeom>
          <a:solidFill>
            <a:srgbClr val="132A52"/>
          </a:solidFill>
        </p:spPr>
      </p:sp>
      <p:sp>
        <p:nvSpPr>
          <p:cNvPr id="15" name="Text 13"/>
          <p:cNvSpPr/>
          <p:nvPr/>
        </p:nvSpPr>
        <p:spPr>
          <a:xfrm>
            <a:off x="1737360" y="3739896"/>
            <a:ext cx="2926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Data Access 層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737360" y="4069080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Data.DataAccess (DAO / Entity)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3666744"/>
            <a:ext cx="5699455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組裝 SQL、對應資料表，支援多資料庫（PgSQL / MySQL / SQL Server / Oracle）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13552" y="4553712"/>
            <a:ext cx="164592" cy="146304"/>
          </a:xfrm>
          <a:prstGeom prst="downArrow">
            <a:avLst/>
          </a:prstGeom>
          <a:solidFill>
            <a:srgbClr val="70788F"/>
          </a:solidFill>
        </p:spPr>
      </p:sp>
      <p:sp>
        <p:nvSpPr>
          <p:cNvPr id="19" name="Shape 17"/>
          <p:cNvSpPr/>
          <p:nvPr/>
        </p:nvSpPr>
        <p:spPr>
          <a:xfrm>
            <a:off x="1463040" y="4791456"/>
            <a:ext cx="9265615" cy="868680"/>
          </a:xfrm>
          <a:prstGeom prst="roundRect">
            <a:avLst>
              <a:gd name="adj" fmla="val 8421"/>
            </a:avLst>
          </a:prstGeom>
          <a:solidFill>
            <a:srgbClr val="0C1B36"/>
          </a:solidFill>
        </p:spPr>
      </p:sp>
      <p:sp>
        <p:nvSpPr>
          <p:cNvPr id="20" name="Text 18"/>
          <p:cNvSpPr/>
          <p:nvPr/>
        </p:nvSpPr>
        <p:spPr>
          <a:xfrm>
            <a:off x="1737360" y="4864608"/>
            <a:ext cx="2926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737360" y="519379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PostgreSQL + pgvector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4791456"/>
            <a:ext cx="5699455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資料儲存與向量索引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SanderQuotation Source Code 教育訓練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PROJECT RESPONSIBILITIES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各專案職責一覽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920240" cy="384048"/>
          </a:xfrm>
          <a:prstGeom prst="rect">
            <a:avLst/>
          </a:prstGeom>
          <a:solidFill>
            <a:srgbClr val="132A52"/>
          </a:solidFill>
        </p:spPr>
      </p:sp>
      <p:sp>
        <p:nvSpPr>
          <p:cNvPr id="5" name="Text 3"/>
          <p:cNvSpPr/>
          <p:nvPr/>
        </p:nvSpPr>
        <p:spPr>
          <a:xfrm>
            <a:off x="612648" y="1371600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專案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423160" y="1371600"/>
            <a:ext cx="6035040" cy="384048"/>
          </a:xfrm>
          <a:prstGeom prst="rect">
            <a:avLst/>
          </a:prstGeom>
          <a:solidFill>
            <a:srgbClr val="132A52"/>
          </a:solidFill>
        </p:spPr>
      </p:sp>
      <p:sp>
        <p:nvSpPr>
          <p:cNvPr id="7" name="Text 5"/>
          <p:cNvSpPr/>
          <p:nvPr/>
        </p:nvSpPr>
        <p:spPr>
          <a:xfrm>
            <a:off x="2532888" y="1371600"/>
            <a:ext cx="5852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職責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458200" y="1371600"/>
            <a:ext cx="3200400" cy="384048"/>
          </a:xfrm>
          <a:prstGeom prst="rect">
            <a:avLst/>
          </a:prstGeom>
          <a:solidFill>
            <a:srgbClr val="132A52"/>
          </a:solidFill>
        </p:spPr>
      </p:sp>
      <p:sp>
        <p:nvSpPr>
          <p:cNvPr id="9" name="Text 7"/>
          <p:cNvSpPr/>
          <p:nvPr/>
        </p:nvSpPr>
        <p:spPr>
          <a:xfrm>
            <a:off x="8567928" y="1371600"/>
            <a:ext cx="3017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代表性程式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755648"/>
            <a:ext cx="1920240" cy="566928"/>
          </a:xfrm>
          <a:prstGeom prst="rect">
            <a:avLst/>
          </a:prstGeom>
          <a:solidFill>
            <a:srgbClr val="F3F6FB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755648"/>
            <a:ext cx="171907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CommonClass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1755648"/>
            <a:ext cx="6035040" cy="566928"/>
          </a:xfrm>
          <a:prstGeom prst="rect">
            <a:avLst/>
          </a:prstGeom>
          <a:solidFill>
            <a:srgbClr val="F3F6FB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755648"/>
            <a:ext cx="583387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Model、AttributeEnum、CustomAttribute 等跨層共用型別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58200" y="1755648"/>
            <a:ext cx="3200400" cy="566928"/>
          </a:xfrm>
          <a:prstGeom prst="rect">
            <a:avLst/>
          </a:prstGeom>
          <a:solidFill>
            <a:srgbClr val="F3F6FB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67928" y="1755648"/>
            <a:ext cx="299923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UserInfo、共用 Enum 屬性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322576"/>
            <a:ext cx="1920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322576"/>
            <a:ext cx="171907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Const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23160" y="2322576"/>
            <a:ext cx="6035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32888" y="2322576"/>
            <a:ext cx="583387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系統常數、Enum 定義、對外部 API 的資料模型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458200" y="2322576"/>
            <a:ext cx="3200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67928" y="2322576"/>
            <a:ext cx="299923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Enums.StatusEnum、QueryPrice API Model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2889504"/>
            <a:ext cx="1920240" cy="566928"/>
          </a:xfrm>
          <a:prstGeom prst="rect">
            <a:avLst/>
          </a:prstGeom>
          <a:solidFill>
            <a:srgbClr val="F3F6FB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2889504"/>
            <a:ext cx="171907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Data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23160" y="2889504"/>
            <a:ext cx="6035040" cy="566928"/>
          </a:xfrm>
          <a:prstGeom prst="rect">
            <a:avLst/>
          </a:prstGeom>
          <a:solidFill>
            <a:srgbClr val="F3F6FB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32888" y="2889504"/>
            <a:ext cx="583387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DAO 介面與實作、Entity、UnitOfWork（多資料庫抽象）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58200" y="2889504"/>
            <a:ext cx="3200400" cy="566928"/>
          </a:xfrm>
          <a:prstGeom prst="rect">
            <a:avLst/>
          </a:prstGeom>
          <a:solidFill>
            <a:srgbClr val="F3F6FB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67928" y="2889504"/>
            <a:ext cx="299923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SanderModuleItemDaoImpl、UnitOfWorkPgSQL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3456432"/>
            <a:ext cx="1920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3456432"/>
            <a:ext cx="171907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Business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23160" y="3456432"/>
            <a:ext cx="6035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32888" y="3456432"/>
            <a:ext cx="583387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BusinessLogic：商業規則與跨 DAO 交易協調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458200" y="3456432"/>
            <a:ext cx="3200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67928" y="3456432"/>
            <a:ext cx="299923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HandleQuotationBL、AccountBL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023360"/>
            <a:ext cx="1920240" cy="566928"/>
          </a:xfrm>
          <a:prstGeom prst="rect">
            <a:avLst/>
          </a:prstGeom>
          <a:solidFill>
            <a:srgbClr val="F3F6FB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" y="4023360"/>
            <a:ext cx="171907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ViewModel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423160" y="4023360"/>
            <a:ext cx="6035040" cy="566928"/>
          </a:xfrm>
          <a:prstGeom prst="rect">
            <a:avLst/>
          </a:prstGeom>
          <a:solidFill>
            <a:srgbClr val="F3F6FB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32888" y="4023360"/>
            <a:ext cx="583387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API 輸入 / 輸出用的資料傳輸物件（VM）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458200" y="4023360"/>
            <a:ext cx="3200400" cy="566928"/>
          </a:xfrm>
          <a:prstGeom prst="rect">
            <a:avLst/>
          </a:prstGeom>
          <a:solidFill>
            <a:srgbClr val="F3F6FB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67928" y="4023360"/>
            <a:ext cx="299923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QuotationItemVM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" y="4590288"/>
            <a:ext cx="1920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" y="4590288"/>
            <a:ext cx="171907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backend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423160" y="4590288"/>
            <a:ext cx="6035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32888" y="4590288"/>
            <a:ext cx="583387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對外 Web API：Controllers、AI 模組、Hangfire 背景工作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458200" y="4590288"/>
            <a:ext cx="3200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67928" y="4590288"/>
            <a:ext cx="299923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AIChatController、ExtractKeywordJob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" y="5157216"/>
            <a:ext cx="1920240" cy="566928"/>
          </a:xfrm>
          <a:prstGeom prst="rect">
            <a:avLst/>
          </a:prstGeom>
          <a:solidFill>
            <a:srgbClr val="F3F6FB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" y="5157216"/>
            <a:ext cx="171907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frontend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423160" y="5157216"/>
            <a:ext cx="6035040" cy="566928"/>
          </a:xfrm>
          <a:prstGeom prst="rect">
            <a:avLst/>
          </a:prstGeom>
          <a:solidFill>
            <a:srgbClr val="F3F6FB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32888" y="5157216"/>
            <a:ext cx="583387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後台管理 MVC 網站：帳號、權限、系統設定介面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458200" y="5157216"/>
            <a:ext cx="3200400" cy="566928"/>
          </a:xfrm>
          <a:prstGeom prst="rect">
            <a:avLst/>
          </a:prstGeom>
          <a:solidFill>
            <a:srgbClr val="F3F6FB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67928" y="5157216"/>
            <a:ext cx="299923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SysRoleController、Views/SysSetting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12775" y="5723890"/>
            <a:ext cx="10290175" cy="5670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532888" y="5724144"/>
            <a:ext cx="583387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567928" y="5724144"/>
            <a:ext cx="299923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SanderQuotation Source Code 教育訓練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Data 層：DAO 動態查詢條件組裝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991295" y="146304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55887" y="256032"/>
            <a:ext cx="91440" cy="91440"/>
          </a:xfrm>
          <a:prstGeom prst="ellipse">
            <a:avLst/>
          </a:prstGeom>
          <a:solidFill>
            <a:srgbClr val="132A52"/>
          </a:solidFill>
        </p:spPr>
      </p:sp>
      <p:sp>
        <p:nvSpPr>
          <p:cNvPr id="6" name="Text 4"/>
          <p:cNvSpPr/>
          <p:nvPr/>
        </p:nvSpPr>
        <p:spPr>
          <a:xfrm>
            <a:off x="9320479" y="146304"/>
            <a:ext cx="2377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對應分層圖：Data Access 層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4415" cy="3657600"/>
          </a:xfrm>
          <a:prstGeom prst="roundRect">
            <a:avLst>
              <a:gd name="adj" fmla="val 2000"/>
            </a:avLst>
          </a:prstGeom>
          <a:solidFill>
            <a:srgbClr val="0E1F3D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1463040"/>
            <a:ext cx="10765231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FE0B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Data/DataAccess/Impl/SanderModuleItemDaoImpl.cs — GetListByFilter()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10692079" cy="31455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class SanderModuleItemDaoImpl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: BaseImpl&lt;SanderModuleItemEntity&gt;, ISanderModuleItemDAO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public List&lt;SanderModuleItemDTO&gt; GetListByFilter(SearchVO vo)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{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StringBuilder condition = new();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Dictionary&lt;string, object&gt; paras = [];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(vo.IdEq.HasValue)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{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condition.Append($"AND s.{nameof(Entity.Id)} = @{nameof(vo.IdEq)} ");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paras.Add(nameof(vo.IdEq), vo.IdEq);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// ... 依 SearchVO 各欄位動態組裝 WHERE 條件、參數化查詢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5257800"/>
            <a:ext cx="11094415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設計重點：</a:t>
            </a:r>
            <a:r>
              <a:rPr lang="en-US" sz="11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  以 SearchVO 條件物件動態組裝 SQL WHERE 子句，所有條件皆使用參數化查詢（@paramName）避免 SQL Injection；欄位名稱以 nameof() 取得，減少字串硬編碼與改欄位時漏改的風險。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SanderQuotation Source Code 教育訓練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BUSINESS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Business 層：交易協調模式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991295" y="146304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55887" y="256032"/>
            <a:ext cx="91440" cy="9144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6" name="Text 4"/>
          <p:cNvSpPr/>
          <p:nvPr/>
        </p:nvSpPr>
        <p:spPr>
          <a:xfrm>
            <a:off x="9320479" y="146304"/>
            <a:ext cx="2468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對應分層圖：Business Logic 層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492240" cy="4389120"/>
          </a:xfrm>
          <a:prstGeom prst="roundRect">
            <a:avLst>
              <a:gd name="adj" fmla="val 1667"/>
            </a:avLst>
          </a:prstGeom>
          <a:solidFill>
            <a:srgbClr val="0E1F3D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1463040"/>
            <a:ext cx="616305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FE0B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Business/BusinessLogic/HandleQuotationBL.cs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6089904" cy="38770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partial class HandleQuotationBL : BaseProjectBL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private readonly IUnitOfWork _unitOfWork;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批次儲存查料＋查價結果，於同一 transaction 完成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public void DoSaveFullSearchResult(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Guid uploadId, List&lt;BomFileContentDM&gt; results)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{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GetBLTBBomFileQuotation().DoSaveChange = false;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GetBLEsFileTransferUpload().DoSaveChange = false;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foreach (var dm in results)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{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GetBLTBBomFileQuotation().DoUpsertPartSearchItem(dm);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GetBLTBBomFileQuotation().DoUpdatePriceItem(dm);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_unitOfWork.Commit();   // 統一提交，確保原子性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23760" y="1371600"/>
            <a:ext cx="4419295" cy="1371600"/>
          </a:xfrm>
          <a:prstGeom prst="roundRect">
            <a:avLst>
              <a:gd name="adj" fmla="val 4667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70064" y="1517904"/>
            <a:ext cx="91440" cy="91440"/>
          </a:xfrm>
          <a:prstGeom prst="roundRect">
            <a:avLst>
              <a:gd name="adj" fmla="val 20000"/>
            </a:avLst>
          </a:prstGeom>
          <a:solidFill>
            <a:srgbClr val="02C39A"/>
          </a:solidFill>
        </p:spPr>
      </p:sp>
      <p:sp>
        <p:nvSpPr>
          <p:cNvPr id="12" name="Text 10"/>
          <p:cNvSpPr/>
          <p:nvPr/>
        </p:nvSpPr>
        <p:spPr>
          <a:xfrm>
            <a:off x="7534656" y="1444752"/>
            <a:ext cx="396209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DoSaveChange 旗標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88352" y="1700784"/>
            <a:ext cx="4090111" cy="9692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暫時關閉個別 BL 的即時寫入，改為累積在同一交易中，最後統一 Commit，避免部分成功、部分失敗。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23760" y="2880360"/>
            <a:ext cx="4419295" cy="1371600"/>
          </a:xfrm>
          <a:prstGeom prst="roundRect">
            <a:avLst>
              <a:gd name="adj" fmla="val 4667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3026664"/>
            <a:ext cx="91440" cy="914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</p:spPr>
      </p:sp>
      <p:sp>
        <p:nvSpPr>
          <p:cNvPr id="16" name="Text 14"/>
          <p:cNvSpPr/>
          <p:nvPr/>
        </p:nvSpPr>
        <p:spPr>
          <a:xfrm>
            <a:off x="7534656" y="2953512"/>
            <a:ext cx="396209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BLFactory 存取模式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388352" y="3209544"/>
            <a:ext cx="4090111" cy="9692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GetBLXXX() 透過工廠取得共用同一交易上下文的其他 BL 實例，串連跨資料表操作。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23760" y="4389120"/>
            <a:ext cx="4419295" cy="1463040"/>
          </a:xfrm>
          <a:prstGeom prst="roundRect">
            <a:avLst>
              <a:gd name="adj" fmla="val 4375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70064" y="4535424"/>
            <a:ext cx="91440" cy="91440"/>
          </a:xfrm>
          <a:prstGeom prst="roundRect">
            <a:avLst>
              <a:gd name="adj" fmla="val 20000"/>
            </a:avLst>
          </a:prstGeom>
          <a:solidFill>
            <a:srgbClr val="132A52"/>
          </a:solidFill>
        </p:spPr>
      </p:sp>
      <p:sp>
        <p:nvSpPr>
          <p:cNvPr id="20" name="Text 18"/>
          <p:cNvSpPr/>
          <p:nvPr/>
        </p:nvSpPr>
        <p:spPr>
          <a:xfrm>
            <a:off x="7534656" y="4462272"/>
            <a:ext cx="396209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為何用 partial class？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88352" y="4718304"/>
            <a:ext cx="4090111" cy="10607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依業務子流程（查料 / 查價 / 決策）拆分成多個 partial 區塊，維持單一類別但降低單檔複雜度。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48856" y="3364992"/>
            <a:ext cx="237744" cy="237744"/>
          </a:xfrm>
          <a:prstGeom prst="ellipse">
            <a:avLst/>
          </a:prstGeom>
          <a:solidFill>
            <a:srgbClr val="02C39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48856" y="336499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231575" y="1307592"/>
            <a:ext cx="237744" cy="237744"/>
          </a:xfrm>
          <a:prstGeom prst="ellipse">
            <a:avLst/>
          </a:prstGeom>
          <a:solidFill>
            <a:srgbClr val="02C39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231575" y="130759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48856" y="4325112"/>
            <a:ext cx="237744" cy="23774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48856" y="43251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1231575" y="2816352"/>
            <a:ext cx="237744" cy="23774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31575" y="281635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48856" y="1732788"/>
            <a:ext cx="237744" cy="237744"/>
          </a:xfrm>
          <a:prstGeom prst="ellipse">
            <a:avLst/>
          </a:prstGeom>
          <a:solidFill>
            <a:srgbClr val="132A5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48856" y="17327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1231575" y="4325112"/>
            <a:ext cx="237744" cy="237744"/>
          </a:xfrm>
          <a:prstGeom prst="ellipse">
            <a:avLst/>
          </a:prstGeom>
          <a:solidFill>
            <a:srgbClr val="132A5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231575" y="43251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SanderQuotation Source Code 教育訓練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API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backend 層：Web API Controller 慣例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991295" y="146304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55887" y="256032"/>
            <a:ext cx="91440" cy="9144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6" name="Text 4"/>
          <p:cNvSpPr/>
          <p:nvPr/>
        </p:nvSpPr>
        <p:spPr>
          <a:xfrm>
            <a:off x="9320479" y="146304"/>
            <a:ext cx="2377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8A6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對應分層圖：Controller 層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675120" cy="4937760"/>
          </a:xfrm>
          <a:prstGeom prst="roundRect">
            <a:avLst>
              <a:gd name="adj" fmla="val 1481"/>
            </a:avLst>
          </a:prstGeom>
          <a:solidFill>
            <a:srgbClr val="0E1F3D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1463040"/>
            <a:ext cx="634593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FE0B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backend/Controllers/AIChatController.cs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6272784" cy="4425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[Route("api/AIChat")]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class AIChatController : BaseProjectController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private readonly AIChatHandler _aiChatHandler;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[HttpPost("Chat")]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public async Task&lt;IActionResult&gt; Chat(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[FromBody] AIChatRequestVO request)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{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try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{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var result = await _aiChatHandler.ChatAsync(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request.SessionId, request.UserMessage);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return Ok(result);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catch (Exception ex)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{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LogError(ex);   // 統一寫入 ControlLog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return StatusCode(500, new { Success = false });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06640" y="1371600"/>
            <a:ext cx="4236415" cy="1417320"/>
          </a:xfrm>
          <a:prstGeom prst="roundRect">
            <a:avLst>
              <a:gd name="adj" fmla="val 451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52944" y="1517904"/>
            <a:ext cx="91440" cy="91440"/>
          </a:xfrm>
          <a:prstGeom prst="roundRect">
            <a:avLst>
              <a:gd name="adj" fmla="val 20000"/>
            </a:avLst>
          </a:prstGeom>
          <a:solidFill>
            <a:srgbClr val="02C39A"/>
          </a:solidFill>
        </p:spPr>
      </p:sp>
      <p:sp>
        <p:nvSpPr>
          <p:cNvPr id="12" name="Text 10"/>
          <p:cNvSpPr/>
          <p:nvPr/>
        </p:nvSpPr>
        <p:spPr>
          <a:xfrm>
            <a:off x="7717536" y="1444752"/>
            <a:ext cx="377921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BaseProjectController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571232" y="1700784"/>
            <a:ext cx="3907231" cy="10149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所有 Controller 共同基底：統一授權檢查、LogError()、JsonValidFail() 等共用回應格式。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640" y="2926080"/>
            <a:ext cx="4236415" cy="1417320"/>
          </a:xfrm>
          <a:prstGeom prst="roundRect">
            <a:avLst>
              <a:gd name="adj" fmla="val 451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52944" y="3072384"/>
            <a:ext cx="91440" cy="914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</p:spPr>
      </p:sp>
      <p:sp>
        <p:nvSpPr>
          <p:cNvPr id="16" name="Text 14"/>
          <p:cNvSpPr/>
          <p:nvPr/>
        </p:nvSpPr>
        <p:spPr>
          <a:xfrm>
            <a:off x="7717536" y="2999232"/>
            <a:ext cx="377921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路由慣例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571232" y="3255264"/>
            <a:ext cx="3907231" cy="10149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[Route("api/模組名稱")] + [HttpGet/Post/Delete("動作名稱")]，對應前端 API 呼叫路徑。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06640" y="4480560"/>
            <a:ext cx="4236415" cy="1463040"/>
          </a:xfrm>
          <a:prstGeom prst="roundRect">
            <a:avLst>
              <a:gd name="adj" fmla="val 4375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52944" y="4626864"/>
            <a:ext cx="91440" cy="91440"/>
          </a:xfrm>
          <a:prstGeom prst="roundRect">
            <a:avLst>
              <a:gd name="adj" fmla="val 20000"/>
            </a:avLst>
          </a:prstGeom>
          <a:solidFill>
            <a:srgbClr val="132A52"/>
          </a:solidFill>
        </p:spPr>
      </p:sp>
      <p:sp>
        <p:nvSpPr>
          <p:cNvPr id="20" name="Text 18"/>
          <p:cNvSpPr/>
          <p:nvPr/>
        </p:nvSpPr>
        <p:spPr>
          <a:xfrm>
            <a:off x="7717536" y="4553712"/>
            <a:ext cx="377921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統一例外處理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571232" y="4809744"/>
            <a:ext cx="3907231" cy="10607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Controller 層以 try/catch 包覆，錯誤一律記錄 ControlLog 並回傳統一格式，不外洩例外細節。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48856" y="1924812"/>
            <a:ext cx="237744" cy="237744"/>
          </a:xfrm>
          <a:prstGeom prst="ellipse">
            <a:avLst/>
          </a:prstGeom>
          <a:solidFill>
            <a:srgbClr val="02C39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48856" y="19248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231575" y="1961388"/>
            <a:ext cx="237744" cy="237744"/>
          </a:xfrm>
          <a:prstGeom prst="ellipse">
            <a:avLst/>
          </a:prstGeom>
          <a:solidFill>
            <a:srgbClr val="02C39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231575" y="19613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48856" y="2692908"/>
            <a:ext cx="237744" cy="23774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48856" y="269290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1231575" y="3515868"/>
            <a:ext cx="237744" cy="23774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31575" y="351586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48856" y="4997196"/>
            <a:ext cx="237744" cy="237744"/>
          </a:xfrm>
          <a:prstGeom prst="ellipse">
            <a:avLst/>
          </a:prstGeom>
          <a:solidFill>
            <a:srgbClr val="132A5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48856" y="499719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1231575" y="5093208"/>
            <a:ext cx="237744" cy="237744"/>
          </a:xfrm>
          <a:prstGeom prst="ellipse">
            <a:avLst/>
          </a:prstGeom>
          <a:solidFill>
            <a:srgbClr val="132A5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231575" y="509320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SanderQuotation Source Code 教育訓練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0C1B36"/>
          </a:solidFill>
        </p:spPr>
      </p:sp>
      <p:sp>
        <p:nvSpPr>
          <p:cNvPr id="3" name="Shape 1"/>
          <p:cNvSpPr/>
          <p:nvPr/>
        </p:nvSpPr>
        <p:spPr>
          <a:xfrm>
            <a:off x="-548640" y="4572000"/>
            <a:ext cx="3108960" cy="3108960"/>
          </a:xfrm>
          <a:prstGeom prst="ellipse">
            <a:avLst/>
          </a:prstGeom>
          <a:solidFill>
            <a:srgbClr val="02C39A">
              <a:alpha val="4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237744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PART 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0584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核心資料流程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BOM 上傳 ｜ 查料 ｜ 內部／外部查價 ｜ 背景排程工作的完整流程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SanderQuotation Source Code 教育訓練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BACKGROUND JOBS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背景排程工作（Hangfire）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系統以 Hangfire 處理耗時或定時性工作，與 Web API 請求解耦，避免使用者等待長時間作業。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4415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9BA9C2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11096"/>
            <a:ext cx="146304" cy="310896"/>
          </a:xfrm>
          <a:prstGeom prst="roundRect">
            <a:avLst>
              <a:gd name="adj" fmla="val 18750"/>
            </a:avLst>
          </a:prstGeom>
          <a:solidFill>
            <a:srgbClr val="1C7293"/>
          </a:solidFill>
        </p:spPr>
      </p:sp>
      <p:sp>
        <p:nvSpPr>
          <p:cNvPr id="7" name="Text 5"/>
          <p:cNvSpPr/>
          <p:nvPr/>
        </p:nvSpPr>
        <p:spPr>
          <a:xfrm>
            <a:off x="1097280" y="1783080"/>
            <a:ext cx="28346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A5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TransferJob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1783080"/>
            <a:ext cx="7345375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定時轉入 / 轉出 ERP 資料，處理跨系統資料同步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1094415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9BA9C2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569464"/>
            <a:ext cx="146304" cy="310896"/>
          </a:xfrm>
          <a:prstGeom prst="roundRect">
            <a:avLst>
              <a:gd name="adj" fmla="val 18750"/>
            </a:avLst>
          </a:prstGeom>
          <a:solidFill>
            <a:srgbClr val="02C39A"/>
          </a:solidFill>
        </p:spPr>
      </p:sp>
      <p:sp>
        <p:nvSpPr>
          <p:cNvPr id="11" name="Text 9"/>
          <p:cNvSpPr/>
          <p:nvPr/>
        </p:nvSpPr>
        <p:spPr>
          <a:xfrm>
            <a:off x="1097280" y="2441448"/>
            <a:ext cx="28346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A5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ExtractKeywordJob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2441448"/>
            <a:ext cx="7345375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呼叫 AI（ManualBatchEmbedding）批次擷取料品關鍵字並產生向量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99816"/>
            <a:ext cx="11094415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9BA9C2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227832"/>
            <a:ext cx="146304" cy="310896"/>
          </a:xfrm>
          <a:prstGeom prst="roundRect">
            <a:avLst>
              <a:gd name="adj" fmla="val 18750"/>
            </a:avLst>
          </a:prstGeom>
          <a:solidFill>
            <a:srgbClr val="1C7293"/>
          </a:solidFill>
        </p:spPr>
      </p:sp>
      <p:sp>
        <p:nvSpPr>
          <p:cNvPr id="15" name="Text 13"/>
          <p:cNvSpPr/>
          <p:nvPr/>
        </p:nvSpPr>
        <p:spPr>
          <a:xfrm>
            <a:off x="1097280" y="3099816"/>
            <a:ext cx="28346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A5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PriceSearchJob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0" y="3099816"/>
            <a:ext cx="7345375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排程執行內部 / 外部（Mouser、DigiKey）查價流程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58184"/>
            <a:ext cx="11094415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9BA9C2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886200"/>
            <a:ext cx="146304" cy="310896"/>
          </a:xfrm>
          <a:prstGeom prst="roundRect">
            <a:avLst>
              <a:gd name="adj" fmla="val 18750"/>
            </a:avLst>
          </a:prstGeom>
          <a:solidFill>
            <a:srgbClr val="02C39A"/>
          </a:solidFill>
        </p:spPr>
      </p:sp>
      <p:sp>
        <p:nvSpPr>
          <p:cNvPr id="19" name="Text 17"/>
          <p:cNvSpPr/>
          <p:nvPr/>
        </p:nvSpPr>
        <p:spPr>
          <a:xfrm>
            <a:off x="1097280" y="3758184"/>
            <a:ext cx="28346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A5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DataCleanupJob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3758184"/>
            <a:ext cx="7345375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每日 09:00 自動清理過期資料（RecurringJob）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416552"/>
            <a:ext cx="11094415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9BA9C2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4544568"/>
            <a:ext cx="146304" cy="310896"/>
          </a:xfrm>
          <a:prstGeom prst="roundRect">
            <a:avLst>
              <a:gd name="adj" fmla="val 18750"/>
            </a:avLst>
          </a:prstGeom>
          <a:solidFill>
            <a:srgbClr val="132A52"/>
          </a:solidFill>
        </p:spPr>
      </p:sp>
      <p:sp>
        <p:nvSpPr>
          <p:cNvPr id="23" name="Text 21"/>
          <p:cNvSpPr/>
          <p:nvPr/>
        </p:nvSpPr>
        <p:spPr>
          <a:xfrm>
            <a:off x="1097280" y="4416552"/>
            <a:ext cx="28346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A5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SourceScheduleHostService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4416552"/>
            <a:ext cx="7345375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背景 HostedService，正式環境（非 DEBUG）啟動排程管理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166360"/>
            <a:ext cx="11094415" cy="1097280"/>
          </a:xfrm>
          <a:prstGeom prst="roundRect">
            <a:avLst>
              <a:gd name="adj" fmla="val 6667"/>
            </a:avLst>
          </a:prstGeom>
          <a:solidFill>
            <a:srgbClr val="0E1F3D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3232" y="5257800"/>
            <a:ext cx="10765231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FE0B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backend/Program.cs — 排程註冊範例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9808" y="5550408"/>
            <a:ext cx="10692079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RecurringJob.AddOrUpdate&lt;DataCleanupJob&gt;("DataCleanupJob",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job =&gt; job.Execute(), "0 9 * * *");   // TimeZone: Taipei Standard Time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SanderQuotation Source Code 教育訓練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FEATURE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新增功能範例：新增「匯出 OO 報表」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94525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9BA9C2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499616"/>
            <a:ext cx="329184" cy="329184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6" name="Text 4"/>
          <p:cNvSpPr/>
          <p:nvPr/>
        </p:nvSpPr>
        <p:spPr>
          <a:xfrm>
            <a:off x="585216" y="149961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1444752"/>
            <a:ext cx="145444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前端 View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5216" y="1865376"/>
            <a:ext cx="1838493" cy="4206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cshtml 按鈕 + fetch()，取得 blob 並觸發下載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70013" y="1737360"/>
            <a:ext cx="164592" cy="164592"/>
          </a:xfrm>
          <a:prstGeom prst="chevron">
            <a:avLst/>
          </a:prstGeom>
          <a:solidFill>
            <a:srgbClr val="70788F"/>
          </a:solidFill>
        </p:spPr>
      </p:sp>
      <p:sp>
        <p:nvSpPr>
          <p:cNvPr id="10" name="Shape 8"/>
          <p:cNvSpPr/>
          <p:nvPr/>
        </p:nvSpPr>
        <p:spPr>
          <a:xfrm>
            <a:off x="2752893" y="1371600"/>
            <a:ext cx="2094525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9BA9C2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80909" y="1499616"/>
            <a:ext cx="329184" cy="329184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2" name="Text 10"/>
          <p:cNvSpPr/>
          <p:nvPr/>
        </p:nvSpPr>
        <p:spPr>
          <a:xfrm>
            <a:off x="2880909" y="149961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83245" y="1444752"/>
            <a:ext cx="145444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Controller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80909" y="1865376"/>
            <a:ext cx="1838493" cy="4206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[HttpGet("Export")] + 權限驗證，取得查詢參數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65705" y="1737360"/>
            <a:ext cx="164592" cy="164592"/>
          </a:xfrm>
          <a:prstGeom prst="chevron">
            <a:avLst/>
          </a:prstGeom>
          <a:solidFill>
            <a:srgbClr val="70788F"/>
          </a:solidFill>
        </p:spPr>
      </p:sp>
      <p:sp>
        <p:nvSpPr>
          <p:cNvPr id="16" name="Shape 14"/>
          <p:cNvSpPr/>
          <p:nvPr/>
        </p:nvSpPr>
        <p:spPr>
          <a:xfrm>
            <a:off x="5048585" y="1371600"/>
            <a:ext cx="2094525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9BA9C2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76601" y="1499616"/>
            <a:ext cx="329184" cy="329184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8" name="Text 16"/>
          <p:cNvSpPr/>
          <p:nvPr/>
        </p:nvSpPr>
        <p:spPr>
          <a:xfrm>
            <a:off x="5176601" y="149961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8937" y="1444752"/>
            <a:ext cx="145444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Business 查詢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176601" y="1865376"/>
            <a:ext cx="1838493" cy="4206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呼叫既有 BL 查詢方法，取得要匯出的資料列表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61398" y="1737360"/>
            <a:ext cx="164592" cy="164592"/>
          </a:xfrm>
          <a:prstGeom prst="chevron">
            <a:avLst/>
          </a:prstGeom>
          <a:solidFill>
            <a:srgbClr val="70788F"/>
          </a:solidFill>
        </p:spPr>
      </p:sp>
      <p:sp>
        <p:nvSpPr>
          <p:cNvPr id="22" name="Shape 20"/>
          <p:cNvSpPr/>
          <p:nvPr/>
        </p:nvSpPr>
        <p:spPr>
          <a:xfrm>
            <a:off x="7344278" y="1371600"/>
            <a:ext cx="2094525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9BA9C2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72294" y="1499616"/>
            <a:ext cx="329184" cy="329184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4" name="Text 22"/>
          <p:cNvSpPr/>
          <p:nvPr/>
        </p:nvSpPr>
        <p:spPr>
          <a:xfrm>
            <a:off x="7472294" y="149961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74630" y="1444752"/>
            <a:ext cx="145444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NPOI 產生報表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72294" y="1865376"/>
            <a:ext cx="1838493" cy="4206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開啟範本或新建 Workbook，逐列寫入並套用樣式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457091" y="1737360"/>
            <a:ext cx="164592" cy="164592"/>
          </a:xfrm>
          <a:prstGeom prst="chevron">
            <a:avLst/>
          </a:prstGeom>
          <a:solidFill>
            <a:srgbClr val="70788F"/>
          </a:solidFill>
        </p:spPr>
      </p:sp>
      <p:sp>
        <p:nvSpPr>
          <p:cNvPr id="28" name="Shape 26"/>
          <p:cNvSpPr/>
          <p:nvPr/>
        </p:nvSpPr>
        <p:spPr>
          <a:xfrm>
            <a:off x="9639971" y="1371600"/>
            <a:ext cx="2094525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9BA9C2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767987" y="1499616"/>
            <a:ext cx="329184" cy="329184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30" name="Text 28"/>
          <p:cNvSpPr/>
          <p:nvPr/>
        </p:nvSpPr>
        <p:spPr>
          <a:xfrm>
            <a:off x="9767987" y="149961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170323" y="1444752"/>
            <a:ext cx="145444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回傳檔案下載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767987" y="1865376"/>
            <a:ext cx="1838493" cy="4206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workbook 寫入 MemoryStream，回傳 File()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2450592"/>
            <a:ext cx="1118585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實作方式：</a:t>
            </a:r>
            <a:r>
              <a:rPr lang="en-US" sz="11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Controller 新增 [HttpGet("Export")] Action → BL 查詢／組出要匯出的資料 → NPOI 開啟範本或建立新表，逐列寫入並套用樣式 → 回傳 File()；前端 cshtml 按鈕以 fetch() 呼叫並觸發下載。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2880360"/>
            <a:ext cx="6309360" cy="3520440"/>
          </a:xfrm>
          <a:prstGeom prst="roundRect">
            <a:avLst>
              <a:gd name="adj" fmla="val 2078"/>
            </a:avLst>
          </a:prstGeom>
          <a:solidFill>
            <a:srgbClr val="0E1F3D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13232" y="2971800"/>
            <a:ext cx="598017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FE0B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backend/Controllers/QuotationResultController.cs — Export() 節錄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49808" y="3264408"/>
            <a:ext cx="5907024" cy="30083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[HttpGet("Export")]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ActionResult Export(Guid id)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var data = GetBlQuotationResult().GetListByFilter(...);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using var stream = new FileStream(templatePath, FileMode.Open);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IWorkbook workbook = new XSSFWorkbook(stream);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ISheet sheet = workbook.GetSheetAt(0);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逐列寫入報表資料（樣式套用 + 欄寬自動調整）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WriteExportRow(sheet, row, data);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using var ms = new MemoryStream();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workbook.Write(ms, true);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File(ms.ToArray(), "application/...");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86600" y="2880360"/>
            <a:ext cx="4556455" cy="1097280"/>
          </a:xfrm>
          <a:prstGeom prst="roundRect">
            <a:avLst>
              <a:gd name="adj" fmla="val 5833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32904" y="3026664"/>
            <a:ext cx="91440" cy="91440"/>
          </a:xfrm>
          <a:prstGeom prst="roundRect">
            <a:avLst>
              <a:gd name="adj" fmla="val 20000"/>
            </a:avLst>
          </a:prstGeom>
          <a:solidFill>
            <a:srgbClr val="02C39A"/>
          </a:solidFill>
        </p:spPr>
      </p:sp>
      <p:sp>
        <p:nvSpPr>
          <p:cNvPr id="39" name="Text 37"/>
          <p:cNvSpPr/>
          <p:nvPr/>
        </p:nvSpPr>
        <p:spPr>
          <a:xfrm>
            <a:off x="7397496" y="2953512"/>
            <a:ext cx="409925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範本從哪裡來？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251192" y="3209544"/>
            <a:ext cx="4227271" cy="6949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可直接開啟既有 Excel 範本檔案（如本例）,或用 workbook.CreateSheet() 從零建立全新報表。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086600" y="4114800"/>
            <a:ext cx="4556455" cy="1097280"/>
          </a:xfrm>
          <a:prstGeom prst="roundRect">
            <a:avLst>
              <a:gd name="adj" fmla="val 5833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32904" y="4261104"/>
            <a:ext cx="91440" cy="914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</p:spPr>
      </p:sp>
      <p:sp>
        <p:nvSpPr>
          <p:cNvPr id="43" name="Text 41"/>
          <p:cNvSpPr/>
          <p:nvPr/>
        </p:nvSpPr>
        <p:spPr>
          <a:xfrm>
            <a:off x="7397496" y="4187952"/>
            <a:ext cx="409925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欄位對應怎麼寫？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7251192" y="4443984"/>
            <a:ext cx="4227271" cy="6949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比照 WriteExportRow：以欄位索引或標題名稱找到目標 Cell，SetCellValue 寫入對應資料。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086600" y="5349240"/>
            <a:ext cx="4556455" cy="960120"/>
          </a:xfrm>
          <a:prstGeom prst="roundRect">
            <a:avLst>
              <a:gd name="adj" fmla="val 6667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32904" y="5495544"/>
            <a:ext cx="91440" cy="91440"/>
          </a:xfrm>
          <a:prstGeom prst="roundRect">
            <a:avLst>
              <a:gd name="adj" fmla="val 20000"/>
            </a:avLst>
          </a:prstGeom>
          <a:solidFill>
            <a:srgbClr val="132A52"/>
          </a:solidFill>
        </p:spPr>
      </p:sp>
      <p:sp>
        <p:nvSpPr>
          <p:cNvPr id="47" name="Text 45"/>
          <p:cNvSpPr/>
          <p:nvPr/>
        </p:nvSpPr>
        <p:spPr>
          <a:xfrm>
            <a:off x="7397496" y="5422392"/>
            <a:ext cx="409925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下載檔名與格式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7251192" y="5678424"/>
            <a:ext cx="4227271" cy="5577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透過 Content-Disposition Header 設定檔名；mimeType 依副檔名（.xlsx / .xls）決定。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SanderQuotation Source Code 教育訓練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FEATURE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新增功能範例：功能與權限設定（功能設定 → 角色）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64328" cy="1554480"/>
          </a:xfrm>
          <a:prstGeom prst="roundRect">
            <a:avLst>
              <a:gd name="adj" fmla="val 4118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517904"/>
            <a:ext cx="91440" cy="91440"/>
          </a:xfrm>
          <a:prstGeom prst="roundRect">
            <a:avLst>
              <a:gd name="adj" fmla="val 20000"/>
            </a:avLst>
          </a:prstGeom>
          <a:solidFill>
            <a:srgbClr val="02C39A"/>
          </a:solidFill>
        </p:spPr>
      </p:sp>
      <p:sp>
        <p:nvSpPr>
          <p:cNvPr id="6" name="Text 4"/>
          <p:cNvSpPr/>
          <p:nvPr/>
        </p:nvSpPr>
        <p:spPr>
          <a:xfrm>
            <a:off x="859536" y="1444752"/>
            <a:ext cx="490712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① 功能設定（SysFunc）：新增功能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1700784"/>
            <a:ext cx="5035144" cy="11521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填入功能名稱、所屬功能類別、URL（前端頁面路徑）與排序；並勾選要啟用的操作項目（檢視／新增／編輯／刪除），每個項目各輸入一個數字「權限代碼」。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78728" y="1371600"/>
            <a:ext cx="5364328" cy="1554480"/>
          </a:xfrm>
          <a:prstGeom prst="roundRect">
            <a:avLst>
              <a:gd name="adj" fmla="val 4118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25032" y="1517904"/>
            <a:ext cx="91440" cy="914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</p:spPr>
      </p:sp>
      <p:sp>
        <p:nvSpPr>
          <p:cNvPr id="10" name="Text 8"/>
          <p:cNvSpPr/>
          <p:nvPr/>
        </p:nvSpPr>
        <p:spPr>
          <a:xfrm>
            <a:off x="6589624" y="1444752"/>
            <a:ext cx="490712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② 角色設定（SysRole）：指派權限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43320" y="1700784"/>
            <a:ext cx="5035144" cy="11521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進入該角色的權限設定，在功能列表中找到剛新增的功能，勾選允許的操作項目，儲存後即寫入該角色可用的權限清單（FuncDetailIds）。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447288"/>
            <a:ext cx="10692079" cy="2596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SanderQuotation Source Code 教育訓練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0C1B36"/>
          </a:solidFill>
        </p:spPr>
      </p:sp>
      <p:sp>
        <p:nvSpPr>
          <p:cNvPr id="3" name="Shape 1"/>
          <p:cNvSpPr/>
          <p:nvPr/>
        </p:nvSpPr>
        <p:spPr>
          <a:xfrm>
            <a:off x="-548640" y="4572000"/>
            <a:ext cx="3108960" cy="3108960"/>
          </a:xfrm>
          <a:prstGeom prst="ellipse">
            <a:avLst/>
          </a:prstGeom>
          <a:solidFill>
            <a:srgbClr val="02C39A">
              <a:alpha val="4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237744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PART 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0584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AI 智能查價助理模組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Semantic Kernel + Gemini Function Calling ｜ Text-to-SQL ｜ 向量語意搜尋 ｜ AI 價格決策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SanderQuotation Source Code 教育訓練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AI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AI 模組架構：Semantic Kernel + Function Calling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F3F6FB"/>
          </a:solidFill>
        </p:spPr>
      </p:sp>
      <p:sp>
        <p:nvSpPr>
          <p:cNvPr id="5" name="Text 3"/>
          <p:cNvSpPr/>
          <p:nvPr/>
        </p:nvSpPr>
        <p:spPr>
          <a:xfrm>
            <a:off x="640080" y="1417320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使用者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自然語言提問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017520" y="13716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32A52"/>
          </a:solidFill>
        </p:spPr>
      </p:sp>
      <p:sp>
        <p:nvSpPr>
          <p:cNvPr id="7" name="Text 5"/>
          <p:cNvSpPr/>
          <p:nvPr/>
        </p:nvSpPr>
        <p:spPr>
          <a:xfrm>
            <a:off x="3108960" y="1371600"/>
            <a:ext cx="24688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AIChatHandler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（Kernel Orchestrator）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0" y="128016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</p:spPr>
      </p:sp>
      <p:sp>
        <p:nvSpPr>
          <p:cNvPr id="9" name="Text 7"/>
          <p:cNvSpPr/>
          <p:nvPr/>
        </p:nvSpPr>
        <p:spPr>
          <a:xfrm>
            <a:off x="6126480" y="1280160"/>
            <a:ext cx="24688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HistoryFileQueryPlugin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901952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</p:spPr>
      </p:sp>
      <p:sp>
        <p:nvSpPr>
          <p:cNvPr id="11" name="Text 9"/>
          <p:cNvSpPr/>
          <p:nvPr/>
        </p:nvSpPr>
        <p:spPr>
          <a:xfrm>
            <a:off x="6126480" y="1901952"/>
            <a:ext cx="24688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QuotationQueryPlugin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2523744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</p:spPr>
      </p:sp>
      <p:sp>
        <p:nvSpPr>
          <p:cNvPr id="13" name="Text 11"/>
          <p:cNvSpPr/>
          <p:nvPr/>
        </p:nvSpPr>
        <p:spPr>
          <a:xfrm>
            <a:off x="6126480" y="2523744"/>
            <a:ext cx="24688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ReportPlugin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98280" y="1901952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02C39A"/>
          </a:solidFill>
        </p:spPr>
      </p:sp>
      <p:sp>
        <p:nvSpPr>
          <p:cNvPr id="15" name="Text 13"/>
          <p:cNvSpPr/>
          <p:nvPr/>
        </p:nvSpPr>
        <p:spPr>
          <a:xfrm>
            <a:off x="9189720" y="1901952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SqlExecutorPlugin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（僅允許 SELECT）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51760" y="1810512"/>
            <a:ext cx="365760" cy="9144"/>
          </a:xfrm>
          <a:prstGeom prst="line">
            <a:avLst/>
          </a:prstGeom>
          <a:noFill/>
          <a:ln w="15875">
            <a:solidFill>
              <a:srgbClr val="70788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69280" y="1554480"/>
            <a:ext cx="365760" cy="137160"/>
          </a:xfrm>
          <a:prstGeom prst="line">
            <a:avLst/>
          </a:prstGeom>
          <a:noFill/>
          <a:ln w="15875">
            <a:solidFill>
              <a:srgbClr val="70788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669280" y="1810512"/>
            <a:ext cx="365760" cy="365760"/>
          </a:xfrm>
          <a:prstGeom prst="line">
            <a:avLst/>
          </a:prstGeom>
          <a:noFill/>
          <a:ln w="15875">
            <a:solidFill>
              <a:srgbClr val="70788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669280" y="1920240"/>
            <a:ext cx="365760" cy="877824"/>
          </a:xfrm>
          <a:prstGeom prst="line">
            <a:avLst/>
          </a:prstGeom>
          <a:noFill/>
          <a:ln w="15875">
            <a:solidFill>
              <a:srgbClr val="70788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686800" y="2176272"/>
            <a:ext cx="411480" cy="9144"/>
          </a:xfrm>
          <a:prstGeom prst="line">
            <a:avLst/>
          </a:prstGeom>
          <a:noFill/>
          <a:ln w="15875">
            <a:solidFill>
              <a:srgbClr val="70788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98280" y="2606040"/>
            <a:ext cx="2514600" cy="502920"/>
          </a:xfrm>
          <a:prstGeom prst="roundRect">
            <a:avLst>
              <a:gd name="adj" fmla="val 12727"/>
            </a:avLst>
          </a:prstGeom>
          <a:solidFill>
            <a:srgbClr val="0C1B36"/>
          </a:solidFill>
        </p:spPr>
      </p:sp>
      <p:sp>
        <p:nvSpPr>
          <p:cNvPr id="22" name="Text 20"/>
          <p:cNvSpPr/>
          <p:nvPr/>
        </p:nvSpPr>
        <p:spPr>
          <a:xfrm>
            <a:off x="9098280" y="2606040"/>
            <a:ext cx="2514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PostgreSQL (+ pgvector)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332720" y="2450592"/>
            <a:ext cx="9144" cy="155448"/>
          </a:xfrm>
          <a:prstGeom prst="line">
            <a:avLst/>
          </a:prstGeom>
          <a:noFill/>
          <a:ln w="15875">
            <a:solidFill>
              <a:srgbClr val="70788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8640" y="3337560"/>
            <a:ext cx="3566160" cy="1188720"/>
          </a:xfrm>
          <a:prstGeom prst="roundRect">
            <a:avLst>
              <a:gd name="adj" fmla="val 5385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" y="3483864"/>
            <a:ext cx="91440" cy="91440"/>
          </a:xfrm>
          <a:prstGeom prst="roundRect">
            <a:avLst>
              <a:gd name="adj" fmla="val 20000"/>
            </a:avLst>
          </a:prstGeom>
          <a:solidFill>
            <a:srgbClr val="02C39A"/>
          </a:solidFill>
        </p:spPr>
      </p:sp>
      <p:sp>
        <p:nvSpPr>
          <p:cNvPr id="26" name="Text 24"/>
          <p:cNvSpPr/>
          <p:nvPr/>
        </p:nvSpPr>
        <p:spPr>
          <a:xfrm>
            <a:off x="859536" y="3410712"/>
            <a:ext cx="3108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Plugin 化設計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13232" y="3666744"/>
            <a:ext cx="3236976" cy="7863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每個資料領域獨立成一個 Kernel Plugin，AI 依問題自動選擇要呼叫的工具。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51960" y="3337560"/>
            <a:ext cx="3566160" cy="1188720"/>
          </a:xfrm>
          <a:prstGeom prst="roundRect">
            <a:avLst>
              <a:gd name="adj" fmla="val 5385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98264" y="3483864"/>
            <a:ext cx="91440" cy="914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</p:spPr>
      </p:sp>
      <p:sp>
        <p:nvSpPr>
          <p:cNvPr id="30" name="Text 28"/>
          <p:cNvSpPr/>
          <p:nvPr/>
        </p:nvSpPr>
        <p:spPr>
          <a:xfrm>
            <a:off x="4562856" y="3410712"/>
            <a:ext cx="3108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Function Calling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416552" y="3666744"/>
            <a:ext cx="3236976" cy="7863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Gemini 以 AutoInvokeKernelFunctions 自動判斷並執行對應 Plugin 函式。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955280" y="3337560"/>
            <a:ext cx="3657600" cy="1188720"/>
          </a:xfrm>
          <a:prstGeom prst="roundRect">
            <a:avLst>
              <a:gd name="adj" fmla="val 5385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01584" y="3483864"/>
            <a:ext cx="91440" cy="91440"/>
          </a:xfrm>
          <a:prstGeom prst="roundRect">
            <a:avLst>
              <a:gd name="adj" fmla="val 20000"/>
            </a:avLst>
          </a:prstGeom>
          <a:solidFill>
            <a:srgbClr val="E4572E"/>
          </a:solidFill>
        </p:spPr>
      </p:sp>
      <p:sp>
        <p:nvSpPr>
          <p:cNvPr id="34" name="Text 32"/>
          <p:cNvSpPr/>
          <p:nvPr/>
        </p:nvSpPr>
        <p:spPr>
          <a:xfrm>
            <a:off x="8266176" y="3410712"/>
            <a:ext cx="3200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安全邊界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119872" y="3666744"/>
            <a:ext cx="3328416" cy="7863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無論哪個 Plugin 生成 SQL，最終一律經過 SqlExecutorPlugin 驗證才能執行。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70916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0E1F3D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13232" y="4800600"/>
            <a:ext cx="10765231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FE0B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backend/Program.cs — Kernel 註冊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9808" y="5093208"/>
            <a:ext cx="10692079" cy="9509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builder.Services.AddKernel()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.AddGoogleAIGeminiChatCompletion(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modelId: "gemini-3.1-flash-lite", apiKey: geminiApiKey, httpClient: geminiHttpClient);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builder.Services.AddScoped&lt;AIChatHandler&gt;();  // 建構子中已註冊所有 Plugin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SanderQuotation Source Code 教育訓練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PROMPT INVENTORY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提示詞總覽：想優化查價／查料，改這裡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提示詞（System Prompt）都是純文字字串常數，</a:t>
            </a:r>
            <a:r>
              <a:rPr lang="en-US" sz="1200" b="1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客戶端工程師可直接修改文字內容來調整 AI 的判斷邏輯與查詢結果，不需更動程式架構或重新設計功能。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51760" cy="365760"/>
          </a:xfrm>
          <a:prstGeom prst="rect">
            <a:avLst/>
          </a:prstGeom>
          <a:solidFill>
            <a:srgbClr val="132A52"/>
          </a:solidFill>
        </p:spPr>
      </p:sp>
      <p:sp>
        <p:nvSpPr>
          <p:cNvPr id="6" name="Text 4"/>
          <p:cNvSpPr/>
          <p:nvPr/>
        </p:nvSpPr>
        <p:spPr>
          <a:xfrm>
            <a:off x="658368" y="169164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提示詞／方法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691640"/>
            <a:ext cx="2651760" cy="365760"/>
          </a:xfrm>
          <a:prstGeom prst="rect">
            <a:avLst/>
          </a:prstGeom>
          <a:solidFill>
            <a:srgbClr val="132A52"/>
          </a:solidFill>
        </p:spPr>
      </p:sp>
      <p:sp>
        <p:nvSpPr>
          <p:cNvPr id="8" name="Text 6"/>
          <p:cNvSpPr/>
          <p:nvPr/>
        </p:nvSpPr>
        <p:spPr>
          <a:xfrm>
            <a:off x="3310128" y="169164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檔案位置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691640"/>
            <a:ext cx="3108960" cy="365760"/>
          </a:xfrm>
          <a:prstGeom prst="rect">
            <a:avLst/>
          </a:prstGeom>
          <a:solidFill>
            <a:srgbClr val="132A52"/>
          </a:solidFill>
        </p:spPr>
      </p:sp>
      <p:sp>
        <p:nvSpPr>
          <p:cNvPr id="10" name="Text 8"/>
          <p:cNvSpPr/>
          <p:nvPr/>
        </p:nvSpPr>
        <p:spPr>
          <a:xfrm>
            <a:off x="5961888" y="1691640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影響功能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1691640"/>
            <a:ext cx="2679192" cy="365760"/>
          </a:xfrm>
          <a:prstGeom prst="rect">
            <a:avLst/>
          </a:prstGeom>
          <a:solidFill>
            <a:srgbClr val="132A52"/>
          </a:solidFill>
        </p:spPr>
      </p:sp>
      <p:sp>
        <p:nvSpPr>
          <p:cNvPr id="12" name="Text 10"/>
          <p:cNvSpPr/>
          <p:nvPr/>
        </p:nvSpPr>
        <p:spPr>
          <a:xfrm>
            <a:off x="9070848" y="1691640"/>
            <a:ext cx="249631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可調整重點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057400"/>
            <a:ext cx="2651760" cy="1051560"/>
          </a:xfrm>
          <a:prstGeom prst="rect">
            <a:avLst/>
          </a:prstGeom>
          <a:solidFill>
            <a:srgbClr val="F3F6FB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057400"/>
            <a:ext cx="2450592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32A5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查價／查料 SQL 生成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32A5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GetQuerySystemPrompt()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2057400"/>
            <a:ext cx="2651760" cy="1051560"/>
          </a:xfrm>
          <a:prstGeom prst="rect">
            <a:avLst/>
          </a:prstGeom>
          <a:solidFill>
            <a:srgbClr val="F3F6FB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2057400"/>
            <a:ext cx="2450592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25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backend/AI/Plugins/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25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QuotationQueryPlugin.cs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52160" y="2057400"/>
            <a:ext cx="3108960" cy="1051560"/>
          </a:xfrm>
          <a:prstGeom prst="rect">
            <a:avLst/>
          </a:prstGeom>
          <a:solidFill>
            <a:srgbClr val="F3F6FB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2057400"/>
            <a:ext cx="2907792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使用者用語 → 資料表欄位對照、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JOIN 規則、SQL 產生規則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61120" y="2057400"/>
            <a:ext cx="2679192" cy="1051560"/>
          </a:xfrm>
          <a:prstGeom prst="rect">
            <a:avLst/>
          </a:prstGeom>
          <a:solidFill>
            <a:srgbClr val="F3F6FB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70848" y="2057400"/>
            <a:ext cx="2478024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最常需要調整：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新增同義詞／欄位對照規則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108960"/>
            <a:ext cx="26517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108960"/>
            <a:ext cx="2450592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32A5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查料關鍵字抽取／比對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32A5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systemPrompt／2／3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0" y="3108960"/>
            <a:ext cx="26517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3108960"/>
            <a:ext cx="2450592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25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backend/AI/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25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ExtractKeywordHandler.cs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52160" y="3108960"/>
            <a:ext cx="3108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61888" y="3108960"/>
            <a:ext cx="2907792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電子零件規格解析、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單位正規化、搜尋字串標準化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961120" y="3108960"/>
            <a:ext cx="267919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70848" y="3108960"/>
            <a:ext cx="2478024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零件類型判斷規則、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單位換算規則（三段須一致）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160520"/>
            <a:ext cx="2651760" cy="1051560"/>
          </a:xfrm>
          <a:prstGeom prst="rect">
            <a:avLst/>
          </a:prstGeom>
          <a:solidFill>
            <a:srgbClr val="F3F6FB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160520"/>
            <a:ext cx="2450592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32A5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查價排單價判斷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32A5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SystemPrompt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0" y="4160520"/>
            <a:ext cx="2651760" cy="1051560"/>
          </a:xfrm>
          <a:prstGeom prst="rect">
            <a:avLst/>
          </a:prstGeom>
          <a:solidFill>
            <a:srgbClr val="F3F6FB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4160520"/>
            <a:ext cx="2450592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25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backend/AI/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25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OrderPriceDecison.cs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852160" y="4160520"/>
            <a:ext cx="3108960" cy="1051560"/>
          </a:xfrm>
          <a:prstGeom prst="rect">
            <a:avLst/>
          </a:prstGeom>
          <a:solidFill>
            <a:srgbClr val="F3F6FB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61888" y="4160520"/>
            <a:ext cx="2907792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依歷史採購價格自動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分群「低價群／高價群」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961120" y="4160520"/>
            <a:ext cx="2679192" cy="1051560"/>
          </a:xfrm>
          <a:prstGeom prst="rect">
            <a:avLst/>
          </a:prstGeom>
          <a:solidFill>
            <a:srgbClr val="F3F6FB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70848" y="4160520"/>
            <a:ext cx="2478024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分群敏感度、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低價群定義的判斷標準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SanderQuotation Source Code 教育訓練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TEXT-TO-SQL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查價／查料提示詞：QuotationQueryPlugin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這是查價／查料功能最常需要調整的提示詞：決定 AI 把使用者的話對應到哪張表、哪個欄位。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126480" cy="3657600"/>
          </a:xfrm>
          <a:prstGeom prst="roundRect">
            <a:avLst>
              <a:gd name="adj" fmla="val 2000"/>
            </a:avLst>
          </a:prstGeom>
          <a:solidFill>
            <a:srgbClr val="0E1F3D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783080"/>
            <a:ext cx="579729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FE0B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GetQuerySystemPrompt() 節錄 — 使用者用語 → 欄位對照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2075688"/>
            <a:ext cx="5724144" cy="31455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元件料號 / ComponentPart   → bomfilecontent.componentpart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廠商型號 / MPN             → bomfilecontent.manufacturerpartnumber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廠商名稱 / manufacturer    → bomfilecontent.manufacturer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內部料號                   → sandermoduleitem.no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供應商型號（採購記錄）      → sandermodulepurchaseline.description2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客戶承認料                 → sandermoduleitemvariant.customerapprovedpartcsv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※ 無法判斷意圖時，以上條件一律 OR 查詢 + LIMIT 100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其他查詢規則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 有 status 欄位的表，必須加上 status = 1（啟用）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 文字比對一律用 ILIKE '%關鍵字%'（模糊、不分大小寫）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 語意搜尋用 {QUERY_VECTOR} 佔位符，相似度需 &gt; 0.7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03720" y="1691640"/>
            <a:ext cx="4739335" cy="1463040"/>
          </a:xfrm>
          <a:prstGeom prst="roundRect">
            <a:avLst>
              <a:gd name="adj" fmla="val 4375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50024" y="1837944"/>
            <a:ext cx="91440" cy="91440"/>
          </a:xfrm>
          <a:prstGeom prst="roundRect">
            <a:avLst>
              <a:gd name="adj" fmla="val 20000"/>
            </a:avLst>
          </a:prstGeom>
          <a:solidFill>
            <a:srgbClr val="02C39A"/>
          </a:solidFill>
        </p:spPr>
      </p:sp>
      <p:sp>
        <p:nvSpPr>
          <p:cNvPr id="10" name="Text 8"/>
          <p:cNvSpPr/>
          <p:nvPr/>
        </p:nvSpPr>
        <p:spPr>
          <a:xfrm>
            <a:off x="7214616" y="1764792"/>
            <a:ext cx="428213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想讓 AI 認得新詞彙？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068312" y="2020824"/>
            <a:ext cx="4410151" cy="10607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在對照表新增一行即可，例如把「客戶型號」對應到 sandermoduleitemvariant.customerapprovedpartcsv，不需改任何程式碼。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03720" y="3291840"/>
            <a:ext cx="4739335" cy="1463040"/>
          </a:xfrm>
          <a:prstGeom prst="roundRect">
            <a:avLst>
              <a:gd name="adj" fmla="val 4375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50024" y="3438144"/>
            <a:ext cx="91440" cy="914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</p:spPr>
      </p:sp>
      <p:sp>
        <p:nvSpPr>
          <p:cNvPr id="14" name="Text 12"/>
          <p:cNvSpPr/>
          <p:nvPr/>
        </p:nvSpPr>
        <p:spPr>
          <a:xfrm>
            <a:off x="7214616" y="3364992"/>
            <a:ext cx="428213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查詢結果太少／太雜？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68312" y="3621024"/>
            <a:ext cx="4410151" cy="10607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調整 ILIKE 模糊比對的寬鬆程度，或調整語意相似度門檻（目前 &gt; 0.7，數值越高越嚴格）。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03720" y="4892040"/>
            <a:ext cx="4739335" cy="1234440"/>
          </a:xfrm>
          <a:prstGeom prst="roundRect">
            <a:avLst>
              <a:gd name="adj" fmla="val 5185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50024" y="5038344"/>
            <a:ext cx="91440" cy="91440"/>
          </a:xfrm>
          <a:prstGeom prst="roundRect">
            <a:avLst>
              <a:gd name="adj" fmla="val 20000"/>
            </a:avLst>
          </a:prstGeom>
          <a:solidFill>
            <a:srgbClr val="132A52"/>
          </a:solidFill>
        </p:spPr>
      </p:sp>
      <p:sp>
        <p:nvSpPr>
          <p:cNvPr id="18" name="Text 16"/>
          <p:cNvSpPr/>
          <p:nvPr/>
        </p:nvSpPr>
        <p:spPr>
          <a:xfrm>
            <a:off x="7214616" y="4965192"/>
            <a:ext cx="428213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調整資料量上限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068312" y="5221224"/>
            <a:ext cx="4410151" cy="8321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LIMIT 100 / LIMIT 200 等數字可依實際資料量與查詢效能需求調整，直接改提示詞內的數字即可。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SanderQuotation Source Code 教育訓練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MATERIAL SEARCH PROMPTS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查料提示詞：ExtractKeywordHandler 關鍵字抽取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441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查料的核心是把料號描述解析成標準化關鍵字；三段提示詞須共用同一套規則，「抽取」與「查詢」的結果才能對得上。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6126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呼叫時機：</a:t>
            </a:r>
            <a:r>
              <a:rPr lang="en-US" sz="10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ExtractKeywordJob 背景排程批次建立關鍵字索引；查價比對時（QuotationHandler）即時呼叫抽取單筆。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126480" cy="3429000"/>
          </a:xfrm>
          <a:prstGeom prst="roundRect">
            <a:avLst>
              <a:gd name="adj" fmla="val 2133"/>
            </a:avLst>
          </a:prstGeom>
          <a:solidFill>
            <a:srgbClr val="0E1F3D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2011680"/>
            <a:ext cx="579729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FE0B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systemPrompt 節錄 — 電容單位正規化（強制規則）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9808" y="2304288"/>
            <a:ext cx="5724144" cy="29169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允許單位：PF / NF / UF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必須自動選擇最適單位，使數值落在 1 ~ 1000 之間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換算：1UF = 1000NF，1NF = 1000PF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LongDesc / LongDesc2 → 抽取規則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 廠商料號（MPN）：英數混合、長度 &gt;= 6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例：UPM1E102MHD6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 品牌名稱（如可辨識）：例 Nichicon、Panasonic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 客戶料號／承認料：英數＋連字號、長度 &gt;= 6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4. 忽略：中文描述（短、腳位外八）、純尺寸(12.5x20mm)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5440680"/>
            <a:ext cx="6126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i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systemPrompt2</a:t>
            </a:r>
            <a:r>
              <a:rPr lang="en-US" sz="1000" i="1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 負責比對「搜尋字串」與「候選關鍵字」是否語意相同（相似度重新評分）；</a:t>
            </a:r>
            <a:r>
              <a:rPr lang="en-US" sz="1000" b="1" i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systemPrompt3</a:t>
            </a:r>
            <a:r>
              <a:rPr lang="en-US" sz="1000" i="1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 負責將使用者輸入的搜尋字串即時標準化 — 規則須與抽取端保持一致。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03720" y="1691640"/>
            <a:ext cx="4739335" cy="1417320"/>
          </a:xfrm>
          <a:prstGeom prst="roundRect">
            <a:avLst>
              <a:gd name="adj" fmla="val 451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50024" y="1837944"/>
            <a:ext cx="91440" cy="91440"/>
          </a:xfrm>
          <a:prstGeom prst="roundRect">
            <a:avLst>
              <a:gd name="adj" fmla="val 20000"/>
            </a:avLst>
          </a:prstGeom>
          <a:solidFill>
            <a:srgbClr val="02C39A"/>
          </a:solidFill>
        </p:spPr>
      </p:sp>
      <p:sp>
        <p:nvSpPr>
          <p:cNvPr id="12" name="Text 10"/>
          <p:cNvSpPr/>
          <p:nvPr/>
        </p:nvSpPr>
        <p:spPr>
          <a:xfrm>
            <a:off x="7214616" y="1764792"/>
            <a:ext cx="428213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新增料品類型？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68312" y="2020824"/>
            <a:ext cx="4410151" cy="10149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目前支援電阻／電容／電感／二極體／IC／連接器。新增類型時，三段提示詞（抽取／比對／標準化）的類型清單要同步更新。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03720" y="3246120"/>
            <a:ext cx="4739335" cy="1417320"/>
          </a:xfrm>
          <a:prstGeom prst="roundRect">
            <a:avLst>
              <a:gd name="adj" fmla="val 451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50024" y="3392424"/>
            <a:ext cx="91440" cy="914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</p:spPr>
      </p:sp>
      <p:sp>
        <p:nvSpPr>
          <p:cNvPr id="16" name="Text 14"/>
          <p:cNvSpPr/>
          <p:nvPr/>
        </p:nvSpPr>
        <p:spPr>
          <a:xfrm>
            <a:off x="7214616" y="3319272"/>
            <a:ext cx="428213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單位換算跟現場不符？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068312" y="3575304"/>
            <a:ext cx="4410151" cy="10149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可直接調整允許單位與換算公式；抽取端與查詢端（systemPrompt3）務必同步修改，否則抽取與查詢會對不起來。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03720" y="4800600"/>
            <a:ext cx="4739335" cy="1325880"/>
          </a:xfrm>
          <a:prstGeom prst="roundRect">
            <a:avLst>
              <a:gd name="adj" fmla="val 4828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50024" y="4946904"/>
            <a:ext cx="91440" cy="91440"/>
          </a:xfrm>
          <a:prstGeom prst="roundRect">
            <a:avLst>
              <a:gd name="adj" fmla="val 20000"/>
            </a:avLst>
          </a:prstGeom>
          <a:solidFill>
            <a:srgbClr val="132A52"/>
          </a:solidFill>
        </p:spPr>
      </p:sp>
      <p:sp>
        <p:nvSpPr>
          <p:cNvPr id="20" name="Text 18"/>
          <p:cNvSpPr/>
          <p:nvPr/>
        </p:nvSpPr>
        <p:spPr>
          <a:xfrm>
            <a:off x="7214616" y="4873752"/>
            <a:ext cx="428213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MPN／品牌辨識不準？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68312" y="5129784"/>
            <a:ext cx="4410151" cy="9235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料號長度門檻（目前 &gt;=6）、品牌清單等規則可依實際零件命名慣例調整，提升關鍵字抽取準確率。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SanderQuotation Source Code 教育訓練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MATERIAL SEARCH PROMPTS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查料提示詞（續）：systemPrompt2／systemPrompt3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上一頁的 systemPrompt 只負責「建資料時的關鍵字抽取」；查料當下依序走 3 個步驟：</a:t>
            </a:r>
            <a:r>
              <a:rPr lang="en-US" sz="1150" b="1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Step1（MPN）／Step2（客戶料號）都用 systemPrompt2 比對，皆未命中才進 Step3 用 systemPrompt3。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0E1F3D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691640"/>
            <a:ext cx="515721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FE0B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systemPrompt2 節錄 — 搜尋字串與候選關鍵字比對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1984248"/>
            <a:ext cx="5084064" cy="24140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呼叫時機：QuotationHandler.MatchKeyword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Step1／Step2 先用：MPN、客戶料號查詢候選關鍵字時比對排序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任務：判斷 SearchKeyword 與候選 Keyword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是否「語意完全相同」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若相同 → SimilarityScore 設為 1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若不同 → 維持原本 SimilarityScore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輸出規則：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 僅輸出 JSON 陣列，每筆資料都必須回傳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 僅可修改 SimilarityScore，其餘欄位不得變更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0E1F3D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36792" y="1691640"/>
            <a:ext cx="515721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FE0B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systemPrompt3 節錄 — 搜尋字串標準化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73368" y="1984248"/>
            <a:ext cx="5084064" cy="24140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呼叫時機：QuotationHandler.StandardizeSearchKeyword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Step3 才用：Step1／2（MPN、客戶料號）皆未命中，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改用規格描述查詢時，先標準化再比對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任務：將輸入文字轉為標準化關鍵字字串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一、料品類型判斷：RESISTOR / CAPACITOR / …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二、規格抽取：阻值、容量、電壓、封裝、誤差…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三、單位正規化（須與 systemPrompt 一致）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例：0.1UF → 100NF，10K → 10000OHM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11094415" cy="1508760"/>
          </a:xfrm>
          <a:prstGeom prst="roundRect">
            <a:avLst>
              <a:gd name="adj" fmla="val 4242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" y="4764024"/>
            <a:ext cx="91440" cy="91440"/>
          </a:xfrm>
          <a:prstGeom prst="roundRect">
            <a:avLst>
              <a:gd name="adj" fmla="val 20000"/>
            </a:avLst>
          </a:prstGeom>
          <a:solidFill>
            <a:srgbClr val="E4572E"/>
          </a:solidFill>
        </p:spPr>
      </p:sp>
      <p:sp>
        <p:nvSpPr>
          <p:cNvPr id="13" name="Text 11"/>
          <p:cNvSpPr/>
          <p:nvPr/>
        </p:nvSpPr>
        <p:spPr>
          <a:xfrm>
            <a:off x="859536" y="4690872"/>
            <a:ext cx="1063721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為什麼三段要一致？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" y="4946904"/>
            <a:ext cx="10765231" cy="11064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systemPrompt 在「建立資料索引」時把料號描述抽取成標準化關鍵字（例如電容單位統一換算）；查料時先用 systemPrompt2 比對 MPN／客戶料號（Step1、2），都沒命中才輪到 systemPrompt3 標準化規格描述（Step3）。三段任何一段的單位換算或分類規則改了但其他段沒同步改，就會出現「明明是同一顆料，卻查不到」的情況——調整查料規則時務必三段一起檢查。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SanderQuotation Source Code 教育訓練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PRICING DECISION PROMPT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查價提示詞：OrderPriceDecison 排單價判斷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035040" cy="4480560"/>
          </a:xfrm>
          <a:prstGeom prst="roundRect">
            <a:avLst>
              <a:gd name="adj" fmla="val 1633"/>
            </a:avLst>
          </a:prstGeom>
          <a:solidFill>
            <a:srgbClr val="0E1F3D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463040"/>
            <a:ext cx="570585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FE0B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backend/AI/OrderPriceDecison.cs — SystemPrompt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9808" y="1755648"/>
            <a:ext cx="5632704" cy="39684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輸入：歷史採購價格與出現次數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{ unit_price, count }[]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規則：依價格分布自動分群為「低價群／高價群」，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排除急單造成的異常高價，判斷合理排單價區間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private const string SystemPrompt = @"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你是採購價格分析專家。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【分群規則】依 unit_price 排序，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count 視為權重；若價格有明顯跳躍(gap)則分群。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【輸出規則】只能輸出純 JSON：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{\"Find\":true,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\"low_min\":.., \"low_max\":..,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\"high_min\":.., \"high_max\":..}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8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資料不足 2 筆、或價格過於接近 → Find:false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12280" y="1371600"/>
            <a:ext cx="4830775" cy="1463040"/>
          </a:xfrm>
          <a:prstGeom prst="roundRect">
            <a:avLst>
              <a:gd name="adj" fmla="val 4375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58584" y="1517904"/>
            <a:ext cx="91440" cy="91440"/>
          </a:xfrm>
          <a:prstGeom prst="roundRect">
            <a:avLst>
              <a:gd name="adj" fmla="val 20000"/>
            </a:avLst>
          </a:prstGeom>
          <a:solidFill>
            <a:srgbClr val="02C39A"/>
          </a:solidFill>
        </p:spPr>
      </p:sp>
      <p:sp>
        <p:nvSpPr>
          <p:cNvPr id="9" name="Text 7"/>
          <p:cNvSpPr/>
          <p:nvPr/>
        </p:nvSpPr>
        <p:spPr>
          <a:xfrm>
            <a:off x="7123176" y="1444752"/>
            <a:ext cx="437357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排單價判斷太寬鬆／太嚴格？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976872" y="1700784"/>
            <a:ext cx="4501591" cy="10607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調整「分群規則」段落對 gap（價格跳躍）的描述，讓 AI 更容易或更不容易把價格切成兩群。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12280" y="2971800"/>
            <a:ext cx="4830775" cy="1463040"/>
          </a:xfrm>
          <a:prstGeom prst="roundRect">
            <a:avLst>
              <a:gd name="adj" fmla="val 4375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58584" y="3118104"/>
            <a:ext cx="91440" cy="914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</p:spPr>
      </p:sp>
      <p:sp>
        <p:nvSpPr>
          <p:cNvPr id="13" name="Text 11"/>
          <p:cNvSpPr/>
          <p:nvPr/>
        </p:nvSpPr>
        <p:spPr>
          <a:xfrm>
            <a:off x="7123176" y="3044952"/>
            <a:ext cx="437357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低價群定義想改？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76872" y="3300984"/>
            <a:ext cx="4501591" cy="10607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「低價群定義」段落目前排除急單異常高價；可依實際採購情境調整判斷標準（例如改用時間加權）。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4572000"/>
            <a:ext cx="4830775" cy="128016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58584" y="4718304"/>
            <a:ext cx="91440" cy="91440"/>
          </a:xfrm>
          <a:prstGeom prst="roundRect">
            <a:avLst>
              <a:gd name="adj" fmla="val 20000"/>
            </a:avLst>
          </a:prstGeom>
          <a:solidFill>
            <a:srgbClr val="E4572E"/>
          </a:solidFill>
        </p:spPr>
      </p:sp>
      <p:sp>
        <p:nvSpPr>
          <p:cNvPr id="17" name="Text 15"/>
          <p:cNvSpPr/>
          <p:nvPr/>
        </p:nvSpPr>
        <p:spPr>
          <a:xfrm>
            <a:off x="7123176" y="4645152"/>
            <a:ext cx="437357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輸出格式勿更動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76872" y="4901184"/>
            <a:ext cx="4501591" cy="8778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25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JSON 欄位名稱（Find / low_min / low_max…）是程式碼直接解析的介面，調整提示詞時請保留這段輸出規則不變。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SanderQuotation Source Code 教育訓練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4754880" cy="4754880"/>
          </a:xfrm>
          <a:prstGeom prst="ellipse">
            <a:avLst/>
          </a:prstGeom>
          <a:solidFill>
            <a:srgbClr val="0C1B36"/>
          </a:solidFill>
        </p:spPr>
      </p:sp>
      <p:sp>
        <p:nvSpPr>
          <p:cNvPr id="3" name="Shape 1"/>
          <p:cNvSpPr/>
          <p:nvPr/>
        </p:nvSpPr>
        <p:spPr>
          <a:xfrm>
            <a:off x="9692640" y="4023360"/>
            <a:ext cx="2926080" cy="2926080"/>
          </a:xfrm>
          <a:prstGeom prst="ellipse">
            <a:avLst/>
          </a:prstGeom>
          <a:solidFill>
            <a:srgbClr val="02C39A">
              <a:alpha val="4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2286000"/>
            <a:ext cx="7315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Q &amp; 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感謝聆聽，歡迎針對系統架構、資料流程或 AI 模組提出問題與討論。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93B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SanderQuotation Source Code 教育訓練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11279</Words>
  <Application>WPS Presentation</Application>
  <PresentationFormat>On-screen Show (16:9)</PresentationFormat>
  <Paragraphs>770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5" baseType="lpstr">
      <vt:lpstr>Arial</vt:lpstr>
      <vt:lpstr>新細明體</vt:lpstr>
      <vt:lpstr>Wingdings</vt:lpstr>
      <vt:lpstr>微軟正黑體</vt:lpstr>
      <vt:lpstr>微軟正黑體</vt:lpstr>
      <vt:lpstr>Consolas</vt:lpstr>
      <vt:lpstr>Consolas</vt:lpstr>
      <vt:lpstr>Consolas</vt:lpstr>
      <vt:lpstr>Calibri</vt:lpstr>
      <vt:lpstr>Microsoft YaHei</vt:lpstr>
      <vt:lpstr>SimSun</vt:lpstr>
      <vt:lpstr>Arial Unicode MS</vt:lpstr>
      <vt:lpstr>新細明體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USER</cp:lastModifiedBy>
  <cp:revision>5</cp:revision>
  <dcterms:created xsi:type="dcterms:W3CDTF">2026-09-07T11:48:00Z</dcterms:created>
  <dcterms:modified xsi:type="dcterms:W3CDTF">2026-09-09T10:10:04Z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1028-10.8.0.6003</vt:lpwstr>
  </property>
</Properties>
</file>